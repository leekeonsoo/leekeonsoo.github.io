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8179f0e2c394391" /><Relationship Type="http://schemas.openxmlformats.org/officeDocument/2006/relationships/extended-properties" Target="/docProps/app.xml" Id="Rf8fc5d9462034573" /><Relationship Type="http://schemas.openxmlformats.org/officeDocument/2006/relationships/officeDocument" Target="/ppt/presentation.xml" Id="R2d741bbc1a8d4b26" /></Relationships>
</file>

<file path=ppt/presentation.xml><?xml version="1.0" encoding="utf-8"?>
<p:presentation xmlns:p="http://schemas.openxmlformats.org/presentationml/2006/main">
  <p:sldMasterIdLst>
    <p:sldMasterId xmlns:r="http://schemas.openxmlformats.org/officeDocument/2006/relationships" id="2147483648" r:id="Redeb8f2db81d4ae5"/>
  </p:sldMasterIdLst>
  <p:notesMasterIdLst>
    <p:notesMasterId xmlns:r="http://schemas.openxmlformats.org/officeDocument/2006/relationships" r:id="R5ce830c603cf4a27"/>
  </p:notesMasterIdLst>
  <p:sldIdLst>
    <p:sldId xmlns:r="http://schemas.openxmlformats.org/officeDocument/2006/relationships" id="256" r:id="Ra78a3d30f1934423"/>
    <p:sldId xmlns:r="http://schemas.openxmlformats.org/officeDocument/2006/relationships" id="257" r:id="R97defca0a1734f03"/>
    <p:sldId xmlns:r="http://schemas.openxmlformats.org/officeDocument/2006/relationships" id="258" r:id="R1db2c055c8fb429e"/>
    <p:sldId xmlns:r="http://schemas.openxmlformats.org/officeDocument/2006/relationships" id="259" r:id="R8510882f03994935"/>
    <p:sldId xmlns:r="http://schemas.openxmlformats.org/officeDocument/2006/relationships" id="260" r:id="Rb7dc882388c64d2f"/>
    <p:sldId xmlns:r="http://schemas.openxmlformats.org/officeDocument/2006/relationships" id="261" r:id="R9034f11097294e96"/>
    <p:sldId xmlns:r="http://schemas.openxmlformats.org/officeDocument/2006/relationships" id="262" r:id="R8d3d4cd22a0745aa"/>
    <p:sldId xmlns:r="http://schemas.openxmlformats.org/officeDocument/2006/relationships" id="263" r:id="R792b34bb804546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1e021f3aab4c50" /><Relationship Type="http://schemas.openxmlformats.org/officeDocument/2006/relationships/slideMaster" Target="/ppt/slideMasters/slideMaster1.xml" Id="Redeb8f2db81d4ae5" /><Relationship Type="http://schemas.openxmlformats.org/officeDocument/2006/relationships/notesMaster" Target="/ppt/notesMasters/notesMaster1.xml" Id="R5ce830c603cf4a27" /><Relationship Type="http://schemas.openxmlformats.org/officeDocument/2006/relationships/presProps" Target="/ppt/presProps.xml" Id="Rca708975ccb744f4" /><Relationship Type="http://schemas.openxmlformats.org/officeDocument/2006/relationships/tableStyles" Target="/ppt/tableStyles.xml" Id="Ra0697b21450c4c9b" /><Relationship Type="http://schemas.openxmlformats.org/officeDocument/2006/relationships/slide" Target="/ppt/slides/slide1.xml" Id="Ra78a3d30f1934423" /><Relationship Type="http://schemas.openxmlformats.org/officeDocument/2006/relationships/slide" Target="/ppt/slides/slide2.xml" Id="R97defca0a1734f03" /><Relationship Type="http://schemas.openxmlformats.org/officeDocument/2006/relationships/slide" Target="/ppt/slides/slide3.xml" Id="R1db2c055c8fb429e" /><Relationship Type="http://schemas.openxmlformats.org/officeDocument/2006/relationships/slide" Target="/ppt/slides/slide4.xml" Id="R8510882f03994935" /><Relationship Type="http://schemas.openxmlformats.org/officeDocument/2006/relationships/slide" Target="/ppt/slides/slide5.xml" Id="Rb7dc882388c64d2f" /><Relationship Type="http://schemas.openxmlformats.org/officeDocument/2006/relationships/slide" Target="/ppt/slides/slide6.xml" Id="R9034f11097294e96" /><Relationship Type="http://schemas.openxmlformats.org/officeDocument/2006/relationships/slide" Target="/ppt/slides/slide7.xml" Id="R8d3d4cd22a0745aa" /><Relationship Type="http://schemas.openxmlformats.org/officeDocument/2006/relationships/slide" Target="/ppt/slides/slide8.xml" Id="R792b34bb804546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bf0c2e2ebf4d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ccca6e82bd4d8e" /><Relationship Type="http://schemas.openxmlformats.org/officeDocument/2006/relationships/notesMaster" Target="/ppt/notesMasters/notesMaster1.xml" Id="R6ab38c5c834c43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ca85eeaaeb404b" /><Relationship Type="http://schemas.openxmlformats.org/officeDocument/2006/relationships/notesMaster" Target="/ppt/notesMasters/notesMaster1.xml" Id="R82de011cc0cb47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b0a440222d486b" /><Relationship Type="http://schemas.openxmlformats.org/officeDocument/2006/relationships/notesMaster" Target="/ppt/notesMasters/notesMaster1.xml" Id="Rf9d669e0d77448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a076a4dfee4884" /><Relationship Type="http://schemas.openxmlformats.org/officeDocument/2006/relationships/notesMaster" Target="/ppt/notesMasters/notesMaster1.xml" Id="Rf4c8c10f0c1e41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cfacae92514421" /><Relationship Type="http://schemas.openxmlformats.org/officeDocument/2006/relationships/notesMaster" Target="/ppt/notesMasters/notesMaster1.xml" Id="Rb8aced96e37540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3057df947945ca" /><Relationship Type="http://schemas.openxmlformats.org/officeDocument/2006/relationships/notesMaster" Target="/ppt/notesMasters/notesMaster1.xml" Id="Ra9472067af2a42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b3c8622462447e" /><Relationship Type="http://schemas.openxmlformats.org/officeDocument/2006/relationships/notesMaster" Target="/ppt/notesMasters/notesMaster1.xml" Id="Rebcceada968c4d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68d0f21bbb419f" /><Relationship Type="http://schemas.openxmlformats.org/officeDocument/2006/relationships/notesMaster" Target="/ppt/notesMasters/notesMaster1.xml" Id="Rb326cf08cb2344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Background and contact: /Users/leekeonsoo/Desktop/Knowledge/Research/Information/Resume_Keonsoo Lee_AI.docx</a:t>
            </a:r>
          </a:p>
          <a:p xmlns:a="http://schemas.openxmlformats.org/drawingml/2006/main">
            <a:r>
              <a:t>Research focus and availability reflect the applicant's stated interests and winter 2026–2027 through spring 2027 internship availability. MS target: fall 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/Users/leekeonsoo/Desktop/Knowledge/Research/Information/Resume_Keonsoo Lee_AI.docx</a:t>
            </a:r>
          </a:p>
          <a:p xmlns:a="http://schemas.openxmlformats.org/drawingml/2006/main">
            <a:r>
              <a:t>The UNLV internship ran Jan–May 2026. The associated curation research continued through Aug 2026. The QAI appointment continues. Research interests are intended directions, not claims of prior alignment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/Users/leekeonsoo/Desktop/Knowledge/University/UNLV/Lab/Research/paper/draft.tex, abstract and Evidence-Bound Membership Model.</a:t>
            </a:r>
          </a:p>
          <a:p xmlns:a="http://schemas.openxmlformats.org/drawingml/2006/main">
            <a:r>
              <a:t>First-author project at DiSC Lab, UNLV, Jan–Aug 2026. Applicant led framework design, implementation, experiments, and manuscript writing, with advice from Prof. Shaikh Arifuzzaman.</a:t>
            </a:r>
          </a:p>
          <a:p xmlns:a="http://schemas.openxmlformats.org/drawingml/2006/main">
            <a:r>
              <a:t>Four roles are noncompensatory. Quality not selected is not equivalent to unusable. Coverage only vetoes or restores, never creates a deletion.</a:t>
            </a:r>
          </a:p>
          <a:p xmlns:a="http://schemas.openxmlformats.org/drawingml/2006/main">
            <a:r>
              <a:t>Submitted to IEEE Big Data 2026 on Aug 21 per applicant. Acceptance has not been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/Users/leekeonsoo/Desktop/Knowledge/University/UNLV/Lab/Research/paper/draft.tex, natural-budget evaluation and results tables.</a:t>
            </a:r>
          </a:p>
          <a:p xmlns:a="http://schemas.openxmlformats.org/drawingml/2006/main">
            <a:r>
              <a:t>Raw corpus tokens 6,984,438. Hard corpus tokens 5,032,400. Reduction = 1 - 5,032,400/6,984,438 = 27.9484%, rounded 27.95%.</a:t>
            </a:r>
          </a:p>
          <a:p xmlns:a="http://schemas.openxmlformats.org/drawingml/2006/main">
            <a:r>
              <a:t>Qwen3-4B-Base with QLoRA continued pretraining. Seeds 101, 202, 303. Six code benchmarks. Primary macro uses BigCodeBench Complete, CRUXEval-I, CRUXEval-O, DS-1000. HumanEval+ and MBPP+ are secondary.</a:t>
            </a:r>
          </a:p>
          <a:p xmlns:a="http://schemas.openxmlformats.org/drawingml/2006/main">
            <a:r>
              <a:t>Primary macro Raw 20.86 ± 0.35 and Hard 20.80 ± 0.44, reported across seeds. Difference -0.06 percentage points, mixed task-level effects. No formal noninferiority or measured runtime saving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/Users/leekeonsoo/Downloads/OptimABS 절댓값 기반 적응적 옵티마이저의 연산 효율성 개선.pdf.pdf, equations (1)–(4), experimental setup.</a:t>
            </a:r>
          </a:p>
          <a:p xmlns:a="http://schemas.openxmlformats.org/drawingml/2006/main">
            <a:r>
              <a:t>These formulas illustrate the RMSProp-like normalization change. AdamABS additionally retains the appropriate first-moment update and bias corrections. Do not interpret the equations as the complete AdamABS implementation.</a:t>
            </a:r>
          </a:p>
          <a:p xmlns:a="http://schemas.openxmlformats.org/drawingml/2006/main">
            <a:r>
              <a:t>Applicant proposed the idea, implemented variants, ran experiments, and wrote a substantial portion of the paper. Published KAIC 2025 pp. 358–359.</a:t>
            </a:r>
          </a:p>
          <a:p xmlns:a="http://schemas.openxmlformats.org/drawingml/2006/main">
            <a:r>
              <a:t>No asymptotic complexity claim is repeated here because hardware execution cost and measured end-to-end performance need separate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/Users/leekeonsoo/Downloads/OptimABS 절댓값 기반 적응적 옵티마이저의 연산 효율성 개선.pdf.pdf, Tables 2 and 3, batch size 64. Fixed MLP architecture, MNIST, 200 epochs, learning rate 0.001.</a:t>
            </a:r>
          </a:p>
          <a:p xmlns:a="http://schemas.openxmlformats.org/drawingml/2006/main">
            <a:r>
              <a:t>Reported times in seconds: RMSProp 936.1, RMSPropABS 882.5, Adam 1112.1, AdamABS 1071.0. The source table caption says time per epoch, while the scale and surrounding text use broader training-time language. This deck conservatively labels them reported time rather than claiming a per-epoch or total interpretation.</a:t>
            </a:r>
          </a:p>
          <a:p xmlns:a="http://schemas.openxmlformats.org/drawingml/2006/main">
            <a:r>
              <a:t>RMSPropABS: (936.1 - 882.5) / 936.1 = 5.7259% reduction. AdamABS: (1112.1 - 1071.0) / 1112.1 = 3.6957%.</a:t>
            </a:r>
          </a:p>
          <a:p xmlns:a="http://schemas.openxmlformats.org/drawingml/2006/main">
            <a:r>
              <a:t>Test accuracy: RMSProp 98.54%, RMSPropABS 97.86%, Adam 98.64%, AdamABS 97.86%. Decreases 0.68 and 0.78 percentage points. Evidence is limited to MNIST/MLP and does not establish LM speedups.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/Users/leekeonsoo/Desktop/Knowledge/Research/Information/Resume_Keonsoo Lee_AI.docx; APPLE source /Users/leekeonsoo/Desktop/Knowledge/Research/Quantum Lab/lrcp-iclr27-source-2026-09-19/main.tex.</a:t>
            </a:r>
          </a:p>
          <a:p xmlns:a="http://schemas.openxmlformats.org/drawingml/2006/main">
            <a:r>
              <a:t>APPLE: Joined September 2026, second author. Contribution was manuscript writing and LM benchmarking on Pythia-based models that incorporated the proposed architecture. Applicant did not design the architecture or choose the benchmarks. Submitted to ICLR 2027 per applicant. The source remains anonymous under double-blind review. No acceptance is claimed.</a:t>
            </a:r>
          </a:p>
          <a:p xmlns:a="http://schemas.openxmlformats.org/drawingml/2006/main">
            <a:r>
              <a:t>MRO dates Sep–Dec 2025 per applicant. Text detection Jul 2025. No unverified performance gains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research interests, not results or claims of completed research. They reflect the applicant's interest in understanding user requirements, efficient small language models, and trustworthy AI. World models and diffusion LMs are exploratory interests without claimed expertise.</a:t>
            </a:r>
          </a:p>
          <a:p xmlns:a="http://schemas.openxmlformats.org/drawingml/2006/main">
            <a:r>
              <a:t>Availability: winter 2026–2027 through spring 2027 for internship; intended MS entry fall 2027. Source: applicant conversation. Contact from /Users/leekeonsoo/Desktop/Knowledge/Research/Information/Resume_Keonsoo Lee_AI.docx.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37266d04cc47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a4e597643b49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7ead9989da4c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301a83ee1946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fa22e11e5346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b7a90b821ef49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72EA41-89E1-44EE-BB8A-B32BE64906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C7F0A48-E719-48B1-B63A-3D24242417E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33FBA9A-69EF-40FF-8B61-CEA772B769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B00E4C-6696-4613-A960-C7E7881004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20C951E-F8F5-43BC-A9B3-CF091892FC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9C8D1B-9295-4BB9-BF2C-FE50C2A6DB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DC5C52-5036-4FBD-B629-57FAAAD1EA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01A5D09-CACB-40A0-891A-4B1B238F07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74394D-EC64-49BD-8F8D-00F1940620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B3A262-2D61-4DEB-80E8-6A6EB8295A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3768bb1916481a" /><Relationship Type="http://schemas.openxmlformats.org/officeDocument/2006/relationships/slideLayout" Target="/ppt/slideLayouts/slideLayout1.xml" Id="R761a3d32a35f42dc" /><Relationship Type="http://schemas.openxmlformats.org/officeDocument/2006/relationships/slideLayout" Target="/ppt/slideLayouts/slideLayout2.xml" Id="R8ff011c77dc94256" /><Relationship Type="http://schemas.openxmlformats.org/officeDocument/2006/relationships/slideLayout" Target="/ppt/slideLayouts/slideLayout3.xml" Id="R608991ffd6ee4518" /><Relationship Type="http://schemas.openxmlformats.org/officeDocument/2006/relationships/slideLayout" Target="/ppt/slideLayouts/slideLayout4.xml" Id="R76c66f2271364e72" /><Relationship Type="http://schemas.openxmlformats.org/officeDocument/2006/relationships/slideLayout" Target="/ppt/slideLayouts/slideLayout5.xml" Id="R3071eb24684c496f" /><Relationship Type="http://schemas.openxmlformats.org/officeDocument/2006/relationships/slideLayout" Target="/ppt/slideLayouts/slideLayout6.xml" Id="R22b257780cc448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1a3d32a35f42dc"/>
    <p:sldLayoutId xmlns:r="http://schemas.openxmlformats.org/officeDocument/2006/relationships" id="2147483650" r:id="R8ff011c77dc94256"/>
    <p:sldLayoutId xmlns:r="http://schemas.openxmlformats.org/officeDocument/2006/relationships" id="2147483651" r:id="R608991ffd6ee4518"/>
    <p:sldLayoutId xmlns:r="http://schemas.openxmlformats.org/officeDocument/2006/relationships" id="2147483652" r:id="R76c66f2271364e72"/>
    <p:sldLayoutId xmlns:r="http://schemas.openxmlformats.org/officeDocument/2006/relationships" id="2147483653" r:id="R3071eb24684c496f"/>
    <p:sldLayoutId xmlns:r="http://schemas.openxmlformats.org/officeDocument/2006/relationships" id="2147483654" r:id="R22b257780cc448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f07a3c043424182" /><Relationship Type="http://schemas.openxmlformats.org/officeDocument/2006/relationships/notesSlide" Target="/ppt/notesSlides/notesSlide1.xml" Id="Re97a2307518d44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5b4fa15517476c" /><Relationship Type="http://schemas.openxmlformats.org/officeDocument/2006/relationships/notesSlide" Target="/ppt/notesSlides/notesSlide2.xml" Id="Re12eff7c4c244c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8c324eb5d542f5" /><Relationship Type="http://schemas.openxmlformats.org/officeDocument/2006/relationships/notesSlide" Target="/ppt/notesSlides/notesSlide3.xml" Id="Rc9ba1c0a544041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47eaf8d1ac476c" /><Relationship Type="http://schemas.openxmlformats.org/officeDocument/2006/relationships/notesSlide" Target="/ppt/notesSlides/notesSlide4.xml" Id="R3c1fadc0673646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31b057d642045ee" /><Relationship Type="http://schemas.openxmlformats.org/officeDocument/2006/relationships/notesSlide" Target="/ppt/notesSlides/notesSlide5.xml" Id="R0da98352d5f64a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bfb6bd15e104d77" /><Relationship Type="http://schemas.openxmlformats.org/officeDocument/2006/relationships/chart" Target="/ppt/slides/charts/chart1.xml" Id="R39c13cfa52c6443a" /><Relationship Type="http://schemas.openxmlformats.org/officeDocument/2006/relationships/notesSlide" Target="/ppt/notesSlides/notesSlide6.xml" Id="R777e491b458849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de47ca5730e4a8a" /><Relationship Type="http://schemas.openxmlformats.org/officeDocument/2006/relationships/notesSlide" Target="/ppt/notesSlides/notesSlide7.xml" Id="R26cc122aa20b4a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044925d70ec4254" /><Relationship Type="http://schemas.openxmlformats.org/officeDocument/2006/relationships/notesSlide" Target="/ppt/notesSlides/notesSlide8.xml" Id="Rf8309d566cee4e9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time (s)</c:v>
          </c:tx>
          <c:spPr>
            <a:solidFill xmlns:a="http://schemas.openxmlformats.org/drawingml/2006/main">
              <a:srgbClr val="235E91"/>
            </a:solidFill>
          </c:spPr>
          <c:invertIfNegative val="0"/>
          <c:dPt>
            <c:idx val="0"/>
            <c:invertIfNegative val="0"/>
            <c:spPr>
              <a:solidFill xmlns:a="http://schemas.openxmlformats.org/drawingml/2006/main">
                <a:srgbClr val="AAB9C7"/>
              </a:solidFill>
            </c:spPr>
          </c:dPt>
          <c:dPt>
            <c:idx val="2"/>
            <c:invertIfNegative val="0"/>
            <c:spPr>
              <a:solidFill xmlns:a="http://schemas.openxmlformats.org/drawingml/2006/main">
                <a:srgbClr val="AAB9C7"/>
              </a:solidFill>
            </c:spPr>
          </c:dPt>
          <c:cat>
            <c:strRef>
              <c:f>'Chart Data'!$A$2:$A$5</c:f>
              <c:strCache>
                <c:ptCount val="4"/>
                <c:pt idx="0">
                  <c:v>RMSProp</c:v>
                </c:pt>
                <c:pt idx="1">
                  <c:v>RMSPropABS</c:v>
                </c:pt>
                <c:pt idx="2">
                  <c:v>Adam</c:v>
                </c:pt>
                <c:pt idx="3">
                  <c:v>AdamABS</c:v>
                </c:pt>
              </c:strCache>
            </c:strRef>
          </c:cat>
          <c:val>
            <c:numRef>
              <c:f>'Chart Data'!$B$2:$B$5</c:f>
              <c:numCache>
                <c:formatCode>General</c:formatCode>
                <c:ptCount val="4"/>
                <c:pt idx="0">
                  <c:v>936.1</c:v>
                </c:pt>
                <c:pt idx="1">
                  <c:v>882.5</c:v>
                </c:pt>
                <c:pt idx="2">
                  <c:v>1112.1</c:v>
                </c:pt>
                <c:pt idx="3">
                  <c:v>1071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92B43"/>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354359"/>
                </a:solidFill>
                <a:latin typeface="Times New Roman"/>
                <a:ea typeface="Times New Roman"/>
                <a:cs typeface="Times New Roman"/>
              </a:defRPr>
            </a:pPr>
          </a:p>
        </c:txPr>
        <c:crossAx val="48672768"/>
      </c:catAx>
      <c:valAx>
        <c:axId val="48672768"/>
        <c:scaling>
          <c:orientation val="minMax"/>
          <c:max val="1200"/>
          <c:min val="0"/>
        </c:scaling>
        <c:delete val="0"/>
        <c:axPos val="b"/>
        <c:majorGridlines>
          <c:spPr>
            <a:ln xmlns:a="http://schemas.openxmlformats.org/drawingml/2006/main" w="9525">
              <a:solidFill>
                <a:srgbClr val="DCE4E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9687B"/>
                </a:solidFill>
                <a:latin typeface="Times New Roman"/>
                <a:ea typeface="Times New Roman"/>
                <a:cs typeface="Times New Roman"/>
              </a:defRPr>
            </a:pPr>
          </a:p>
        </c:txPr>
        <c:crossAx val="48650112"/>
        <c:crossBetween val="between"/>
        <c:majorUnit val="40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BA6627-4A2D-4593-816D-DE01719EDC88}"/>
              </a:ext>
            </a:extLst>
          </p:cNvPr>
          <p:cNvSpPr>
            <a:spLocks xmlns:a="http://schemas.openxmlformats.org/drawingml/2006/main" noGrp="1"/>
          </p:cNvSpPr>
          <p:nvPr/>
        </p:nvSpPr>
        <p:spPr>
          <a:xfrm xmlns:a="http://schemas.openxmlformats.org/drawingml/2006/main">
            <a:off x="11049000" y="64198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9687B"/>
                </a:solidFill>
                <a:latin typeface="Times New Roman"/>
                <a:ea typeface="Times New Roman"/>
                <a:cs typeface="Times New Roman"/>
              </a:defRPr>
            </a:defPPr>
          </a:lstStyle>
          <a:p xmlns:a="http://schemas.openxmlformats.org/drawingml/2006/main">
            <a:pPr>
              <a:defRPr sz="1350" b="0">
                <a:solidFill>
                  <a:srgbClr val="59687B"/>
                </a:solidFill>
                <a:latin typeface="Times New Roman"/>
                <a:ea typeface="Times New Roman"/>
                <a:cs typeface="Times New Roman"/>
              </a:defRPr>
            </a:pPr>
            <a:r>
              <a:rPr sz="1350" b="0">
                <a:solidFill>
                  <a:srgbClr val="59687B"/>
                </a:solidFill>
                <a:latin typeface="Times New Roman"/>
                <a:ea typeface="Times New Roman"/>
                <a:cs typeface="Times New Roman"/>
              </a:rPr>
              <a:t>01</a:t>
            </a:r>
          </a:p>
        </p:txBody>
      </p:sp>
      <p:sp>
        <p:nvSpPr>
          <p:cNvPr id="2" name="">
            <a:extLst xmlns:a="http://schemas.openxmlformats.org/drawingml/2006/main">
              <a:ext uri="{FF2B5EF4-FFF2-40B4-BE49-F238E27FC236}">
                <a16:creationId xmlns:a16="http://schemas.microsoft.com/office/drawing/2014/main" id="{0437C401-DBDD-4D94-BD1A-A1303DF1E7EC}"/>
              </a:ext>
            </a:extLst>
          </p:cNvPr>
          <p:cNvSpPr>
            <a:spLocks xmlns:a="http://schemas.openxmlformats.org/drawingml/2006/main" noGrp="1"/>
          </p:cNvSpPr>
          <p:nvPr/>
        </p:nvSpPr>
        <p:spPr>
          <a:xfrm xmlns:a="http://schemas.openxmlformats.org/drawingml/2006/main">
            <a:off x="685800" y="15811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0">
                <a:solidFill>
                  <a:srgbClr val="192B43"/>
                </a:solidFill>
                <a:latin typeface="Times New Roman"/>
                <a:ea typeface="Times New Roman"/>
                <a:cs typeface="Times New Roman"/>
              </a:defRPr>
            </a:defPPr>
          </a:lstStyle>
          <a:p xmlns:a="http://schemas.openxmlformats.org/drawingml/2006/main">
            <a:pPr>
              <a:defRPr sz="5700" b="0">
                <a:solidFill>
                  <a:srgbClr val="192B43"/>
                </a:solidFill>
                <a:latin typeface="Times New Roman"/>
                <a:ea typeface="Times New Roman"/>
                <a:cs typeface="Times New Roman"/>
              </a:defRPr>
            </a:pPr>
            <a:r>
              <a:rPr sz="5700" b="0">
                <a:solidFill>
                  <a:srgbClr val="192B43"/>
                </a:solidFill>
                <a:latin typeface="Times New Roman"/>
                <a:ea typeface="Times New Roman"/>
                <a:cs typeface="Times New Roman"/>
              </a:rPr>
              <a:t>Keonsoo Lee</a:t>
            </a:r>
          </a:p>
        </p:txBody>
      </p:sp>
      <p:sp>
        <p:nvSpPr>
          <p:cNvPr id="3" name="">
            <a:extLst xmlns:a="http://schemas.openxmlformats.org/drawingml/2006/main">
              <a:ext uri="{FF2B5EF4-FFF2-40B4-BE49-F238E27FC236}">
                <a16:creationId xmlns:a16="http://schemas.microsoft.com/office/drawing/2014/main" id="{2B437C8A-A2D8-4F31-871A-8A657A25E3DF}"/>
              </a:ext>
            </a:extLst>
          </p:cNvPr>
          <p:cNvSpPr>
            <a:spLocks xmlns:a="http://schemas.openxmlformats.org/drawingml/2006/main" noGrp="1"/>
          </p:cNvSpPr>
          <p:nvPr/>
        </p:nvSpPr>
        <p:spPr>
          <a:xfrm xmlns:a="http://schemas.openxmlformats.org/drawingml/2006/main">
            <a:off x="723900" y="27146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0">
                <a:solidFill>
                  <a:srgbClr val="235E91"/>
                </a:solidFill>
                <a:latin typeface="Times New Roman"/>
                <a:ea typeface="Times New Roman"/>
                <a:cs typeface="Times New Roman"/>
              </a:defRPr>
            </a:defPPr>
          </a:lstStyle>
          <a:p xmlns:a="http://schemas.openxmlformats.org/drawingml/2006/main">
            <a:pPr>
              <a:defRPr sz="3000" b="0">
                <a:solidFill>
                  <a:srgbClr val="235E91"/>
                </a:solidFill>
                <a:latin typeface="Times New Roman"/>
                <a:ea typeface="Times New Roman"/>
                <a:cs typeface="Times New Roman"/>
              </a:defRPr>
            </a:pPr>
            <a:r>
              <a:rPr sz="3000" b="0">
                <a:solidFill>
                  <a:srgbClr val="235E91"/>
                </a:solidFill>
                <a:latin typeface="Times New Roman"/>
                <a:ea typeface="Times New Roman"/>
                <a:cs typeface="Times New Roman"/>
              </a:rPr>
              <a:t>Research portfolio</a:t>
            </a:r>
          </a:p>
        </p:txBody>
      </p:sp>
      <p:sp>
        <p:nvSpPr>
          <p:cNvPr id="4" name="">
            <a:extLst xmlns:a="http://schemas.openxmlformats.org/drawingml/2006/main">
              <a:ext uri="{FF2B5EF4-FFF2-40B4-BE49-F238E27FC236}">
                <a16:creationId xmlns:a16="http://schemas.microsoft.com/office/drawing/2014/main" id="{AE4A71D9-E025-4C05-B04A-02311D20E599}"/>
              </a:ext>
            </a:extLst>
          </p:cNvPr>
          <p:cNvSpPr>
            <a:spLocks xmlns:a="http://schemas.openxmlformats.org/drawingml/2006/main" noGrp="1"/>
          </p:cNvSpPr>
          <p:nvPr/>
        </p:nvSpPr>
        <p:spPr>
          <a:xfrm xmlns:a="http://schemas.openxmlformats.org/drawingml/2006/main">
            <a:off x="723900" y="34956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354359"/>
                </a:solidFill>
                <a:latin typeface="Times New Roman"/>
                <a:ea typeface="Times New Roman"/>
                <a:cs typeface="Times New Roman"/>
              </a:defRPr>
            </a:defPPr>
          </a:lstStyle>
          <a:p xmlns:a="http://schemas.openxmlformats.org/drawingml/2006/main">
            <a:pPr>
              <a:defRPr sz="2250" b="0">
                <a:solidFill>
                  <a:srgbClr val="354359"/>
                </a:solidFill>
                <a:latin typeface="Times New Roman"/>
                <a:ea typeface="Times New Roman"/>
                <a:cs typeface="Times New Roman"/>
              </a:defRPr>
            </a:pPr>
            <a:r>
              <a:rPr sz="2250" b="0">
                <a:solidFill>
                  <a:srgbClr val="354359"/>
                </a:solidFill>
                <a:latin typeface="Times New Roman"/>
                <a:ea typeface="Times New Roman"/>
                <a:cs typeface="Times New Roman"/>
              </a:rPr>
              <a:t>Small language models, optimization, and trustworthy AI</a:t>
            </a:r>
          </a:p>
        </p:txBody>
      </p:sp>
      <p:sp>
        <p:nvSpPr>
          <p:cNvPr id="5" name="">
            <a:extLst xmlns:a="http://schemas.openxmlformats.org/drawingml/2006/main">
              <a:ext uri="{FF2B5EF4-FFF2-40B4-BE49-F238E27FC236}">
                <a16:creationId xmlns:a16="http://schemas.microsoft.com/office/drawing/2014/main" id="{E84B539E-5174-43A0-B47F-79E3E5632F68}"/>
              </a:ext>
            </a:extLst>
          </p:cNvPr>
          <p:cNvSpPr>
            <a:spLocks xmlns:a="http://schemas.openxmlformats.org/drawingml/2006/main" noGrp="1"/>
          </p:cNvSpPr>
          <p:nvPr/>
        </p:nvSpPr>
        <p:spPr>
          <a:xfrm xmlns:a="http://schemas.openxmlformats.org/drawingml/2006/main">
            <a:off x="723900" y="4810125"/>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9687B"/>
                </a:solidFill>
                <a:latin typeface="Times New Roman"/>
                <a:ea typeface="Times New Roman"/>
                <a:cs typeface="Times New Roman"/>
              </a:defRPr>
            </a:defPPr>
          </a:lstStyle>
          <a:p xmlns:a="http://schemas.openxmlformats.org/drawingml/2006/main">
            <a:pPr>
              <a:defRPr sz="2025" b="0">
                <a:solidFill>
                  <a:srgbClr val="59687B"/>
                </a:solidFill>
                <a:latin typeface="Times New Roman"/>
                <a:ea typeface="Times New Roman"/>
                <a:cs typeface="Times New Roman"/>
              </a:defRPr>
            </a:pPr>
            <a:r>
              <a:rPr sz="2025" b="0">
                <a:solidFill>
                  <a:srgbClr val="59687B"/>
                </a:solidFill>
                <a:latin typeface="Times New Roman"/>
                <a:ea typeface="Times New Roman"/>
                <a:cs typeface="Times New Roman"/>
              </a:rPr>
              <a:t>Software Engineering, Korea Aerospace University</a:t>
            </a:r>
          </a:p>
          <a:p xmlns:a="http://schemas.openxmlformats.org/drawingml/2006/main">
            <a:pPr>
              <a:defRPr sz="2025" b="0">
                <a:solidFill>
                  <a:srgbClr val="59687B"/>
                </a:solidFill>
                <a:latin typeface="Times New Roman"/>
                <a:ea typeface="Times New Roman"/>
                <a:cs typeface="Times New Roman"/>
              </a:defRPr>
            </a:pPr>
            <a:r>
              <a:rPr sz="2025" b="0">
                <a:solidFill>
                  <a:srgbClr val="59687B"/>
                </a:solidFill>
                <a:latin typeface="Times New Roman"/>
                <a:ea typeface="Times New Roman"/>
                <a:cs typeface="Times New Roman"/>
              </a:rPr>
              <a:t>ksl1165@kau.kr</a:t>
            </a:r>
          </a:p>
        </p:txBody>
      </p:sp>
    </p:spTree>
    <p:extLst>
      <p:ext uri="{BB962C8B-B14F-4D97-AF65-F5344CB8AC3E}">
        <p14:creationId xmlns:p14="http://schemas.microsoft.com/office/powerpoint/2010/main" val="12825845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A10744-B6BF-4C8E-9645-8B6400C32FB6}"/>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0">
                <a:solidFill>
                  <a:srgbClr val="192B43"/>
                </a:solidFill>
                <a:latin typeface="Times New Roman"/>
                <a:ea typeface="Times New Roman"/>
                <a:cs typeface="Times New Roman"/>
              </a:defRPr>
            </a:defPPr>
          </a:lstStyle>
          <a:p xmlns:a="http://schemas.openxmlformats.org/drawingml/2006/main">
            <a:pPr>
              <a:defRPr sz="3450" b="0">
                <a:solidFill>
                  <a:srgbClr val="192B43"/>
                </a:solidFill>
                <a:latin typeface="Times New Roman"/>
                <a:ea typeface="Times New Roman"/>
                <a:cs typeface="Times New Roman"/>
              </a:defRPr>
            </a:pPr>
            <a:r>
              <a:rPr sz="3450" b="0">
                <a:solidFill>
                  <a:srgbClr val="192B43"/>
                </a:solidFill>
                <a:latin typeface="Times New Roman"/>
                <a:ea typeface="Times New Roman"/>
                <a:cs typeface="Times New Roman"/>
              </a:rPr>
              <a:t>Research background</a:t>
            </a:r>
          </a:p>
        </p:txBody>
      </p:sp>
      <p:sp>
        <p:nvSpPr>
          <p:cNvPr id="2" name="">
            <a:extLst xmlns:a="http://schemas.openxmlformats.org/drawingml/2006/main">
              <a:ext uri="{FF2B5EF4-FFF2-40B4-BE49-F238E27FC236}">
                <a16:creationId xmlns:a16="http://schemas.microsoft.com/office/drawing/2014/main" id="{324D2829-F708-40D5-B146-173BEBFF891F}"/>
              </a:ext>
            </a:extLst>
          </p:cNvPr>
          <p:cNvSpPr>
            <a:spLocks xmlns:a="http://schemas.openxmlformats.org/drawingml/2006/main" noGrp="1"/>
          </p:cNvSpPr>
          <p:nvPr/>
        </p:nvSpPr>
        <p:spPr>
          <a:xfrm xmlns:a="http://schemas.openxmlformats.org/drawingml/2006/main">
            <a:off x="11049000" y="64198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9687B"/>
                </a:solidFill>
                <a:latin typeface="Times New Roman"/>
                <a:ea typeface="Times New Roman"/>
                <a:cs typeface="Times New Roman"/>
              </a:defRPr>
            </a:defPPr>
          </a:lstStyle>
          <a:p xmlns:a="http://schemas.openxmlformats.org/drawingml/2006/main">
            <a:pPr>
              <a:defRPr sz="1350" b="0">
                <a:solidFill>
                  <a:srgbClr val="59687B"/>
                </a:solidFill>
                <a:latin typeface="Times New Roman"/>
                <a:ea typeface="Times New Roman"/>
                <a:cs typeface="Times New Roman"/>
              </a:defRPr>
            </a:pPr>
            <a:r>
              <a:rPr sz="1350" b="0">
                <a:solidFill>
                  <a:srgbClr val="59687B"/>
                </a:solidFill>
                <a:latin typeface="Times New Roman"/>
                <a:ea typeface="Times New Roman"/>
                <a:cs typeface="Times New Roman"/>
              </a:rPr>
              <a:t>02</a:t>
            </a:r>
          </a:p>
        </p:txBody>
      </p:sp>
      <p:sp>
        <p:nvSpPr>
          <p:cNvPr id="3" name="">
            <a:extLst xmlns:a="http://schemas.openxmlformats.org/drawingml/2006/main">
              <a:ext uri="{FF2B5EF4-FFF2-40B4-BE49-F238E27FC236}">
                <a16:creationId xmlns:a16="http://schemas.microsoft.com/office/drawing/2014/main" id="{202F0B13-6C4D-4917-94DD-59AEBCF202BE}"/>
              </a:ext>
            </a:extLst>
          </p:cNvPr>
          <p:cNvSpPr>
            <a:spLocks xmlns:a="http://schemas.openxmlformats.org/drawingml/2006/main" noGrp="1"/>
          </p:cNvSpPr>
          <p:nvPr/>
        </p:nvSpPr>
        <p:spPr>
          <a:xfrm xmlns:a="http://schemas.openxmlformats.org/drawingml/2006/main">
            <a:off x="685800" y="1476375"/>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2B43"/>
                </a:solidFill>
                <a:latin typeface="Times New Roman"/>
                <a:ea typeface="Times New Roman"/>
                <a:cs typeface="Times New Roman"/>
              </a:defRPr>
            </a:defPPr>
          </a:lstStyle>
          <a:p xmlns:a="http://schemas.openxmlformats.org/drawingml/2006/main">
            <a:pPr>
              <a:defRPr sz="2175" b="1">
                <a:solidFill>
                  <a:srgbClr val="192B43"/>
                </a:solidFill>
                <a:latin typeface="Times New Roman"/>
                <a:ea typeface="Times New Roman"/>
                <a:cs typeface="Times New Roman"/>
              </a:defRPr>
            </a:pPr>
            <a:r>
              <a:rPr sz="2175" b="1">
                <a:solidFill>
                  <a:srgbClr val="192B43"/>
                </a:solidFill>
                <a:latin typeface="Times New Roman"/>
                <a:ea typeface="Times New Roman"/>
                <a:cs typeface="Times New Roman"/>
              </a:rPr>
              <a:t>Korea Aerospace University</a:t>
            </a:r>
          </a:p>
        </p:txBody>
      </p:sp>
      <p:sp>
        <p:nvSpPr>
          <p:cNvPr id="4" name="">
            <a:extLst xmlns:a="http://schemas.openxmlformats.org/drawingml/2006/main">
              <a:ext uri="{FF2B5EF4-FFF2-40B4-BE49-F238E27FC236}">
                <a16:creationId xmlns:a16="http://schemas.microsoft.com/office/drawing/2014/main" id="{8CD7C451-6EEB-43FF-93BE-FEA35B385E80}"/>
              </a:ext>
            </a:extLst>
          </p:cNvPr>
          <p:cNvSpPr>
            <a:spLocks xmlns:a="http://schemas.openxmlformats.org/drawingml/2006/main" noGrp="1"/>
          </p:cNvSpPr>
          <p:nvPr/>
        </p:nvSpPr>
        <p:spPr>
          <a:xfrm xmlns:a="http://schemas.openxmlformats.org/drawingml/2006/main">
            <a:off x="685800" y="1924050"/>
            <a:ext cx="609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354359"/>
                </a:solidFill>
                <a:latin typeface="Times New Roman"/>
                <a:ea typeface="Times New Roman"/>
                <a:cs typeface="Times New Roman"/>
              </a:defRPr>
            </a:defPPr>
          </a:lstStyle>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B.S. in Software Engineering, expected August 2027</a:t>
            </a:r>
          </a:p>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GPA 3.70 / 4.50</a:t>
            </a:r>
          </a:p>
        </p:txBody>
      </p:sp>
      <p:sp>
        <p:nvSpPr>
          <p:cNvPr id="5" name="">
            <a:extLst xmlns:a="http://schemas.openxmlformats.org/drawingml/2006/main">
              <a:ext uri="{FF2B5EF4-FFF2-40B4-BE49-F238E27FC236}">
                <a16:creationId xmlns:a16="http://schemas.microsoft.com/office/drawing/2014/main" id="{F12C8FE1-E29B-49DB-AB28-4C4D18512B1B}"/>
              </a:ext>
            </a:extLst>
          </p:cNvPr>
          <p:cNvSpPr>
            <a:spLocks xmlns:a="http://schemas.openxmlformats.org/drawingml/2006/main" noGrp="1"/>
          </p:cNvSpPr>
          <p:nvPr/>
        </p:nvSpPr>
        <p:spPr>
          <a:xfrm xmlns:a="http://schemas.openxmlformats.org/drawingml/2006/main">
            <a:off x="685800" y="304800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2B43"/>
                </a:solidFill>
                <a:latin typeface="Times New Roman"/>
                <a:ea typeface="Times New Roman"/>
                <a:cs typeface="Times New Roman"/>
              </a:defRPr>
            </a:defPPr>
          </a:lstStyle>
          <a:p xmlns:a="http://schemas.openxmlformats.org/drawingml/2006/main">
            <a:pPr>
              <a:defRPr sz="2175" b="1">
                <a:solidFill>
                  <a:srgbClr val="192B43"/>
                </a:solidFill>
                <a:latin typeface="Times New Roman"/>
                <a:ea typeface="Times New Roman"/>
                <a:cs typeface="Times New Roman"/>
              </a:defRPr>
            </a:pPr>
            <a:r>
              <a:rPr sz="2175" b="1">
                <a:solidFill>
                  <a:srgbClr val="192B43"/>
                </a:solidFill>
                <a:latin typeface="Times New Roman"/>
                <a:ea typeface="Times New Roman"/>
                <a:cs typeface="Times New Roman"/>
              </a:rPr>
              <a:t>QAI Lab, KAU</a:t>
            </a:r>
          </a:p>
        </p:txBody>
      </p:sp>
      <p:sp>
        <p:nvSpPr>
          <p:cNvPr id="6" name="">
            <a:extLst xmlns:a="http://schemas.openxmlformats.org/drawingml/2006/main">
              <a:ext uri="{FF2B5EF4-FFF2-40B4-BE49-F238E27FC236}">
                <a16:creationId xmlns:a16="http://schemas.microsoft.com/office/drawing/2014/main" id="{AC8F4768-0902-4D5C-8DD1-959C7F6577F5}"/>
              </a:ext>
            </a:extLst>
          </p:cNvPr>
          <p:cNvSpPr>
            <a:spLocks xmlns:a="http://schemas.openxmlformats.org/drawingml/2006/main" noGrp="1"/>
          </p:cNvSpPr>
          <p:nvPr/>
        </p:nvSpPr>
        <p:spPr>
          <a:xfrm xmlns:a="http://schemas.openxmlformats.org/drawingml/2006/main">
            <a:off x="685800" y="3495675"/>
            <a:ext cx="609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354359"/>
                </a:solidFill>
                <a:latin typeface="Times New Roman"/>
                <a:ea typeface="Times New Roman"/>
                <a:cs typeface="Times New Roman"/>
              </a:defRPr>
            </a:defPPr>
          </a:lstStyle>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Undergraduate researcher since June 2025</a:t>
            </a:r>
          </a:p>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Advisor: Prof. Jay Hoon Jung</a:t>
            </a:r>
          </a:p>
        </p:txBody>
      </p:sp>
      <p:sp>
        <p:nvSpPr>
          <p:cNvPr id="7" name="">
            <a:extLst xmlns:a="http://schemas.openxmlformats.org/drawingml/2006/main">
              <a:ext uri="{FF2B5EF4-FFF2-40B4-BE49-F238E27FC236}">
                <a16:creationId xmlns:a16="http://schemas.microsoft.com/office/drawing/2014/main" id="{6908B13C-0AC2-44D9-BD30-BD285B29D8BD}"/>
              </a:ext>
            </a:extLst>
          </p:cNvPr>
          <p:cNvSpPr>
            <a:spLocks xmlns:a="http://schemas.openxmlformats.org/drawingml/2006/main" noGrp="1"/>
          </p:cNvSpPr>
          <p:nvPr/>
        </p:nvSpPr>
        <p:spPr>
          <a:xfrm xmlns:a="http://schemas.openxmlformats.org/drawingml/2006/main">
            <a:off x="685800" y="4619625"/>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2B43"/>
                </a:solidFill>
                <a:latin typeface="Times New Roman"/>
                <a:ea typeface="Times New Roman"/>
                <a:cs typeface="Times New Roman"/>
              </a:defRPr>
            </a:defPPr>
          </a:lstStyle>
          <a:p xmlns:a="http://schemas.openxmlformats.org/drawingml/2006/main">
            <a:pPr>
              <a:defRPr sz="2175" b="1">
                <a:solidFill>
                  <a:srgbClr val="192B43"/>
                </a:solidFill>
                <a:latin typeface="Times New Roman"/>
                <a:ea typeface="Times New Roman"/>
                <a:cs typeface="Times New Roman"/>
              </a:defRPr>
            </a:pPr>
            <a:r>
              <a:rPr sz="2175" b="1">
                <a:solidFill>
                  <a:srgbClr val="192B43"/>
                </a:solidFill>
                <a:latin typeface="Times New Roman"/>
                <a:ea typeface="Times New Roman"/>
                <a:cs typeface="Times New Roman"/>
              </a:rPr>
              <a:t>DiSC Lab, UNLV</a:t>
            </a:r>
          </a:p>
        </p:txBody>
      </p:sp>
      <p:sp>
        <p:nvSpPr>
          <p:cNvPr id="8" name="">
            <a:extLst xmlns:a="http://schemas.openxmlformats.org/drawingml/2006/main">
              <a:ext uri="{FF2B5EF4-FFF2-40B4-BE49-F238E27FC236}">
                <a16:creationId xmlns:a16="http://schemas.microsoft.com/office/drawing/2014/main" id="{7D4ABCB1-2736-48B5-A12C-0B8471A09E6F}"/>
              </a:ext>
            </a:extLst>
          </p:cNvPr>
          <p:cNvSpPr>
            <a:spLocks xmlns:a="http://schemas.openxmlformats.org/drawingml/2006/main" noGrp="1"/>
          </p:cNvSpPr>
          <p:nvPr/>
        </p:nvSpPr>
        <p:spPr>
          <a:xfrm xmlns:a="http://schemas.openxmlformats.org/drawingml/2006/main">
            <a:off x="685800" y="5067300"/>
            <a:ext cx="609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354359"/>
                </a:solidFill>
                <a:latin typeface="Times New Roman"/>
                <a:ea typeface="Times New Roman"/>
                <a:cs typeface="Times New Roman"/>
              </a:defRPr>
            </a:defPPr>
          </a:lstStyle>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Research intern, January–May 2026</a:t>
            </a:r>
          </a:p>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Advisor: Prof. Shaikh Arifuzzaman</a:t>
            </a:r>
          </a:p>
        </p:txBody>
      </p:sp>
      <p:sp>
        <p:nvSpPr>
          <p:cNvPr id="9" name="">
            <a:extLst xmlns:a="http://schemas.openxmlformats.org/drawingml/2006/main">
              <a:ext uri="{FF2B5EF4-FFF2-40B4-BE49-F238E27FC236}">
                <a16:creationId xmlns:a16="http://schemas.microsoft.com/office/drawing/2014/main" id="{DB7A9C29-88D2-4EC6-AFCC-7CC941BFE2F0}"/>
              </a:ext>
            </a:extLst>
          </p:cNvPr>
          <p:cNvSpPr>
            <a:spLocks xmlns:a="http://schemas.openxmlformats.org/drawingml/2006/main" noGrp="1"/>
          </p:cNvSpPr>
          <p:nvPr/>
        </p:nvSpPr>
        <p:spPr>
          <a:xfrm xmlns:a="http://schemas.openxmlformats.org/drawingml/2006/main">
            <a:off x="7477125" y="147637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92B43"/>
                </a:solidFill>
                <a:latin typeface="Times New Roman"/>
                <a:ea typeface="Times New Roman"/>
                <a:cs typeface="Times New Roman"/>
              </a:defRPr>
            </a:defPPr>
          </a:lstStyle>
          <a:p xmlns:a="http://schemas.openxmlformats.org/drawingml/2006/main">
            <a:pPr>
              <a:defRPr sz="2400" b="1">
                <a:solidFill>
                  <a:srgbClr val="192B43"/>
                </a:solidFill>
                <a:latin typeface="Times New Roman"/>
                <a:ea typeface="Times New Roman"/>
                <a:cs typeface="Times New Roman"/>
              </a:defRPr>
            </a:pPr>
            <a:r>
              <a:rPr sz="2400" b="1">
                <a:solidFill>
                  <a:srgbClr val="192B43"/>
                </a:solidFill>
                <a:latin typeface="Times New Roman"/>
                <a:ea typeface="Times New Roman"/>
                <a:cs typeface="Times New Roman"/>
              </a:rPr>
              <a:t>Research interests</a:t>
            </a:r>
          </a:p>
        </p:txBody>
      </p:sp>
      <p:sp>
        <p:nvSpPr>
          <p:cNvPr id="10" name="">
            <a:extLst xmlns:a="http://schemas.openxmlformats.org/drawingml/2006/main">
              <a:ext uri="{FF2B5EF4-FFF2-40B4-BE49-F238E27FC236}">
                <a16:creationId xmlns:a16="http://schemas.microsoft.com/office/drawing/2014/main" id="{8EB04F99-DB80-44AA-AE5D-1E5E4A06035B}"/>
              </a:ext>
            </a:extLst>
          </p:cNvPr>
          <p:cNvSpPr>
            <a:spLocks xmlns:a="http://schemas.openxmlformats.org/drawingml/2006/main" noGrp="1"/>
          </p:cNvSpPr>
          <p:nvPr/>
        </p:nvSpPr>
        <p:spPr>
          <a:xfrm xmlns:a="http://schemas.openxmlformats.org/drawingml/2006/main">
            <a:off x="7477125" y="2152650"/>
            <a:ext cx="4000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354359"/>
                </a:solidFill>
                <a:latin typeface="Times New Roman"/>
                <a:ea typeface="Times New Roman"/>
                <a:cs typeface="Times New Roman"/>
              </a:defRPr>
            </a:defPPr>
          </a:lstStyle>
          <a:p xmlns:a="http://schemas.openxmlformats.org/drawingml/2006/main">
            <a:pPr>
              <a:defRPr sz="2250" b="0">
                <a:solidFill>
                  <a:srgbClr val="354359"/>
                </a:solidFill>
                <a:latin typeface="Times New Roman"/>
                <a:ea typeface="Times New Roman"/>
                <a:cs typeface="Times New Roman"/>
              </a:defRPr>
            </a:pPr>
            <a:r>
              <a:rPr sz="2250" b="0">
                <a:solidFill>
                  <a:srgbClr val="354359"/>
                </a:solidFill>
                <a:latin typeface="Times New Roman"/>
                <a:ea typeface="Times New Roman"/>
                <a:cs typeface="Times New Roman"/>
              </a:rPr>
              <a:t>Small language models</a:t>
            </a:r>
          </a:p>
          <a:p xmlns:a="http://schemas.openxmlformats.org/drawingml/2006/main">
            <a:pPr>
              <a:defRPr sz="2250" b="0">
                <a:solidFill>
                  <a:srgbClr val="354359"/>
                </a:solidFill>
                <a:latin typeface="Times New Roman"/>
                <a:ea typeface="Times New Roman"/>
                <a:cs typeface="Times New Roman"/>
              </a:defRPr>
            </a:pPr>
            <a:r>
              <a:rPr sz="2250" b="0">
                <a:solidFill>
                  <a:srgbClr val="354359"/>
                </a:solidFill>
                <a:latin typeface="Times New Roman"/>
                <a:ea typeface="Times New Roman"/>
                <a:cs typeface="Times New Roman"/>
              </a:rPr>
              <a:t>and efficient adaptation</a:t>
            </a:r>
          </a:p>
        </p:txBody>
      </p:sp>
      <p:sp>
        <p:nvSpPr>
          <p:cNvPr id="11" name="">
            <a:extLst xmlns:a="http://schemas.openxmlformats.org/drawingml/2006/main">
              <a:ext uri="{FF2B5EF4-FFF2-40B4-BE49-F238E27FC236}">
                <a16:creationId xmlns:a16="http://schemas.microsoft.com/office/drawing/2014/main" id="{19CBE397-A3E0-412F-8678-5A038AF35FB6}"/>
              </a:ext>
            </a:extLst>
          </p:cNvPr>
          <p:cNvSpPr>
            <a:spLocks xmlns:a="http://schemas.openxmlformats.org/drawingml/2006/main" noGrp="1"/>
          </p:cNvSpPr>
          <p:nvPr/>
        </p:nvSpPr>
        <p:spPr>
          <a:xfrm xmlns:a="http://schemas.openxmlformats.org/drawingml/2006/main">
            <a:off x="7477125" y="3390900"/>
            <a:ext cx="400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354359"/>
                </a:solidFill>
                <a:latin typeface="Times New Roman"/>
                <a:ea typeface="Times New Roman"/>
                <a:cs typeface="Times New Roman"/>
              </a:defRPr>
            </a:defPPr>
          </a:lstStyle>
          <a:p xmlns:a="http://schemas.openxmlformats.org/drawingml/2006/main">
            <a:pPr>
              <a:defRPr sz="2250" b="0">
                <a:solidFill>
                  <a:srgbClr val="354359"/>
                </a:solidFill>
                <a:latin typeface="Times New Roman"/>
                <a:ea typeface="Times New Roman"/>
                <a:cs typeface="Times New Roman"/>
              </a:defRPr>
            </a:pPr>
            <a:r>
              <a:rPr sz="2250" b="0">
                <a:solidFill>
                  <a:srgbClr val="354359"/>
                </a:solidFill>
                <a:latin typeface="Times New Roman"/>
                <a:ea typeface="Times New Roman"/>
                <a:cs typeface="Times New Roman"/>
              </a:rPr>
              <a:t>Alignment and</a:t>
            </a:r>
          </a:p>
          <a:p xmlns:a="http://schemas.openxmlformats.org/drawingml/2006/main">
            <a:pPr>
              <a:defRPr sz="2250" b="0">
                <a:solidFill>
                  <a:srgbClr val="354359"/>
                </a:solidFill>
                <a:latin typeface="Times New Roman"/>
                <a:ea typeface="Times New Roman"/>
                <a:cs typeface="Times New Roman"/>
              </a:defRPr>
            </a:pPr>
            <a:r>
              <a:rPr sz="2250" b="0">
                <a:solidFill>
                  <a:srgbClr val="354359"/>
                </a:solidFill>
                <a:latin typeface="Times New Roman"/>
                <a:ea typeface="Times New Roman"/>
                <a:cs typeface="Times New Roman"/>
              </a:rPr>
              <a:t>instruction following</a:t>
            </a:r>
          </a:p>
        </p:txBody>
      </p:sp>
      <p:sp>
        <p:nvSpPr>
          <p:cNvPr id="12" name="">
            <a:extLst xmlns:a="http://schemas.openxmlformats.org/drawingml/2006/main">
              <a:ext uri="{FF2B5EF4-FFF2-40B4-BE49-F238E27FC236}">
                <a16:creationId xmlns:a16="http://schemas.microsoft.com/office/drawing/2014/main" id="{BA702A73-B44E-47C4-B7C3-A03D08A62EF9}"/>
              </a:ext>
            </a:extLst>
          </p:cNvPr>
          <p:cNvSpPr>
            <a:spLocks xmlns:a="http://schemas.openxmlformats.org/drawingml/2006/main" noGrp="1"/>
          </p:cNvSpPr>
          <p:nvPr/>
        </p:nvSpPr>
        <p:spPr>
          <a:xfrm xmlns:a="http://schemas.openxmlformats.org/drawingml/2006/main">
            <a:off x="7477125" y="4619625"/>
            <a:ext cx="400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354359"/>
                </a:solidFill>
                <a:latin typeface="Times New Roman"/>
                <a:ea typeface="Times New Roman"/>
                <a:cs typeface="Times New Roman"/>
              </a:defRPr>
            </a:defPPr>
          </a:lstStyle>
          <a:p xmlns:a="http://schemas.openxmlformats.org/drawingml/2006/main">
            <a:pPr>
              <a:defRPr sz="2250" b="0">
                <a:solidFill>
                  <a:srgbClr val="354359"/>
                </a:solidFill>
                <a:latin typeface="Times New Roman"/>
                <a:ea typeface="Times New Roman"/>
                <a:cs typeface="Times New Roman"/>
              </a:defRPr>
            </a:pPr>
            <a:r>
              <a:rPr sz="2250" b="0">
                <a:solidFill>
                  <a:srgbClr val="354359"/>
                </a:solidFill>
                <a:latin typeface="Times New Roman"/>
                <a:ea typeface="Times New Roman"/>
                <a:cs typeface="Times New Roman"/>
              </a:rPr>
              <a:t>Trustworthy language models</a:t>
            </a:r>
          </a:p>
          <a:p xmlns:a="http://schemas.openxmlformats.org/drawingml/2006/main">
            <a:pPr>
              <a:defRPr sz="2250" b="0">
                <a:solidFill>
                  <a:srgbClr val="354359"/>
                </a:solidFill>
                <a:latin typeface="Times New Roman"/>
                <a:ea typeface="Times New Roman"/>
                <a:cs typeface="Times New Roman"/>
              </a:defRPr>
            </a:pPr>
            <a:r>
              <a:rPr sz="2250" b="0">
                <a:solidFill>
                  <a:srgbClr val="354359"/>
                </a:solidFill>
                <a:latin typeface="Times New Roman"/>
                <a:ea typeface="Times New Roman"/>
                <a:cs typeface="Times New Roman"/>
              </a:rPr>
              <a:t>and evaluation</a:t>
            </a:r>
          </a:p>
        </p:txBody>
      </p:sp>
    </p:spTree>
    <p:extLst>
      <p:ext uri="{BB962C8B-B14F-4D97-AF65-F5344CB8AC3E}">
        <p14:creationId xmlns:p14="http://schemas.microsoft.com/office/powerpoint/2010/main" val="7064190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F9AB9D-5A64-4365-9237-68547BFEC02A}"/>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0">
                <a:solidFill>
                  <a:srgbClr val="192B43"/>
                </a:solidFill>
                <a:latin typeface="Times New Roman"/>
                <a:ea typeface="Times New Roman"/>
                <a:cs typeface="Times New Roman"/>
              </a:defRPr>
            </a:defPPr>
          </a:lstStyle>
          <a:p xmlns:a="http://schemas.openxmlformats.org/drawingml/2006/main">
            <a:pPr>
              <a:defRPr sz="3450" b="0">
                <a:solidFill>
                  <a:srgbClr val="192B43"/>
                </a:solidFill>
                <a:latin typeface="Times New Roman"/>
                <a:ea typeface="Times New Roman"/>
                <a:cs typeface="Times New Roman"/>
              </a:defRPr>
            </a:pPr>
            <a:r>
              <a:rPr sz="3450" b="0">
                <a:solidFill>
                  <a:srgbClr val="192B43"/>
                </a:solidFill>
                <a:latin typeface="Times New Roman"/>
                <a:ea typeface="Times New Roman"/>
                <a:cs typeface="Times New Roman"/>
              </a:rPr>
              <a:t>Evidence-Bound Curation</a:t>
            </a:r>
          </a:p>
        </p:txBody>
      </p:sp>
      <p:sp>
        <p:nvSpPr>
          <p:cNvPr id="2" name="">
            <a:extLst xmlns:a="http://schemas.openxmlformats.org/drawingml/2006/main">
              <a:ext uri="{FF2B5EF4-FFF2-40B4-BE49-F238E27FC236}">
                <a16:creationId xmlns:a16="http://schemas.microsoft.com/office/drawing/2014/main" id="{26454A64-ABCA-4D76-BBF2-F593E790D076}"/>
              </a:ext>
            </a:extLst>
          </p:cNvPr>
          <p:cNvSpPr>
            <a:spLocks xmlns:a="http://schemas.openxmlformats.org/drawingml/2006/main" noGrp="1"/>
          </p:cNvSpPr>
          <p:nvPr/>
        </p:nvSpPr>
        <p:spPr>
          <a:xfrm xmlns:a="http://schemas.openxmlformats.org/drawingml/2006/main">
            <a:off x="11049000" y="64198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9687B"/>
                </a:solidFill>
                <a:latin typeface="Times New Roman"/>
                <a:ea typeface="Times New Roman"/>
                <a:cs typeface="Times New Roman"/>
              </a:defRPr>
            </a:defPPr>
          </a:lstStyle>
          <a:p xmlns:a="http://schemas.openxmlformats.org/drawingml/2006/main">
            <a:pPr>
              <a:defRPr sz="1350" b="0">
                <a:solidFill>
                  <a:srgbClr val="59687B"/>
                </a:solidFill>
                <a:latin typeface="Times New Roman"/>
                <a:ea typeface="Times New Roman"/>
                <a:cs typeface="Times New Roman"/>
              </a:defRPr>
            </a:pPr>
            <a:r>
              <a:rPr sz="1350" b="0">
                <a:solidFill>
                  <a:srgbClr val="59687B"/>
                </a:solidFill>
                <a:latin typeface="Times New Roman"/>
                <a:ea typeface="Times New Roman"/>
                <a:cs typeface="Times New Roman"/>
              </a:rPr>
              <a:t>03</a:t>
            </a:r>
          </a:p>
        </p:txBody>
      </p:sp>
      <p:sp>
        <p:nvSpPr>
          <p:cNvPr id="3" name="">
            <a:extLst xmlns:a="http://schemas.openxmlformats.org/drawingml/2006/main">
              <a:ext uri="{FF2B5EF4-FFF2-40B4-BE49-F238E27FC236}">
                <a16:creationId xmlns:a16="http://schemas.microsoft.com/office/drawing/2014/main" id="{C5CEE39E-3341-41F7-BFBB-216C60B254D3}"/>
              </a:ext>
            </a:extLst>
          </p:cNvPr>
          <p:cNvSpPr>
            <a:spLocks xmlns:a="http://schemas.openxmlformats.org/drawingml/2006/main" noGrp="1"/>
          </p:cNvSpPr>
          <p:nvPr/>
        </p:nvSpPr>
        <p:spPr>
          <a:xfrm xmlns:a="http://schemas.openxmlformats.org/drawingml/2006/main">
            <a:off x="685800" y="13525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35E91"/>
                </a:solidFill>
                <a:latin typeface="Times New Roman"/>
                <a:ea typeface="Times New Roman"/>
                <a:cs typeface="Times New Roman"/>
              </a:defRPr>
            </a:defPPr>
          </a:lstStyle>
          <a:p xmlns:a="http://schemas.openxmlformats.org/drawingml/2006/main">
            <a:pPr>
              <a:defRPr sz="2250" b="0">
                <a:solidFill>
                  <a:srgbClr val="235E91"/>
                </a:solidFill>
                <a:latin typeface="Times New Roman"/>
                <a:ea typeface="Times New Roman"/>
                <a:cs typeface="Times New Roman"/>
              </a:defRPr>
            </a:pPr>
            <a:r>
              <a:rPr sz="2250" b="0">
                <a:solidFill>
                  <a:srgbClr val="235E91"/>
                </a:solidFill>
                <a:latin typeface="Times New Roman"/>
                <a:ea typeface="Times New Roman"/>
                <a:cs typeface="Times New Roman"/>
              </a:rPr>
              <a:t>Every corpus membership change needs explicit evidence and authority.</a:t>
            </a:r>
          </a:p>
        </p:txBody>
      </p:sp>
      <p:sp>
        <p:nvSpPr>
          <p:cNvPr id="4" name="">
            <a:extLst xmlns:a="http://schemas.openxmlformats.org/drawingml/2006/main">
              <a:ext uri="{FF2B5EF4-FFF2-40B4-BE49-F238E27FC236}">
                <a16:creationId xmlns:a16="http://schemas.microsoft.com/office/drawing/2014/main" id="{739E5904-E735-4DBA-8B59-CC2E4E5A97D2}"/>
              </a:ext>
            </a:extLst>
          </p:cNvPr>
          <p:cNvSpPr>
            <a:spLocks xmlns:a="http://schemas.openxmlformats.org/drawingml/2006/main" noGrp="1"/>
          </p:cNvSpPr>
          <p:nvPr/>
        </p:nvSpPr>
        <p:spPr>
          <a:xfrm xmlns:a="http://schemas.openxmlformats.org/drawingml/2006/main">
            <a:off x="685800" y="18097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9687B"/>
                </a:solidFill>
                <a:latin typeface="Times New Roman"/>
                <a:ea typeface="Times New Roman"/>
                <a:cs typeface="Times New Roman"/>
              </a:defRPr>
            </a:defPPr>
          </a:lstStyle>
          <a:p xmlns:a="http://schemas.openxmlformats.org/drawingml/2006/main">
            <a:pPr>
              <a:defRPr sz="1725" b="0">
                <a:solidFill>
                  <a:srgbClr val="59687B"/>
                </a:solidFill>
                <a:latin typeface="Times New Roman"/>
                <a:ea typeface="Times New Roman"/>
                <a:cs typeface="Times New Roman"/>
              </a:defRPr>
            </a:pPr>
            <a:r>
              <a:rPr sz="1725" b="0">
                <a:solidFill>
                  <a:srgbClr val="59687B"/>
                </a:solidFill>
                <a:latin typeface="Times New Roman"/>
                <a:ea typeface="Times New Roman"/>
                <a:cs typeface="Times New Roman"/>
              </a:rPr>
              <a:t>First-author manuscript. Submitted to IEEE Big Data 2026.</a:t>
            </a:r>
          </a:p>
        </p:txBody>
      </p:sp>
      <p:graphicFrame>
        <p:nvGraphicFramePr>
          <p:cNvPr id="5" name="">
            <a:extLst xmlns:a="http://schemas.openxmlformats.org/drawingml/2006/main">
              <a:ext uri="{FF2B5EF4-FFF2-40B4-BE49-F238E27FC236}">
                <a16:creationId xmlns:a16="http://schemas.microsoft.com/office/drawing/2014/main" id="{8832BBD8-5ECE-4422-8FCA-39E07EF70B57}"/>
              </a:ext>
            </a:extLst>
          </p:cNvPr>
          <p:cNvGraphicFramePr/>
          <p:nvPr/>
        </p:nvGraphicFramePr>
        <p:xfrm>
          <a:off xmlns:a="http://schemas.openxmlformats.org/drawingml/2006/main" x="685800" y="2095500"/>
          <a:ext xmlns:a="http://schemas.openxmlformats.org/drawingml/2006/main" cx="10820400" cy="3143250"/>
        </p:xfrm>
        <a:graphic xmlns:a="http://schemas.openxmlformats.org/drawingml/2006/main">
          <a:graphicData uri="http://schemas.openxmlformats.org/drawingml/2006/table">
            <a:tbl>
              <a:tblPr firstRow="1" bandRow="0"/>
              <a:tblGrid>
                <a:gridCol w="2286000"/>
                <a:gridCol w="8534400"/>
              </a:tblGrid>
              <a:tr h="628650">
                <a:tc>
                  <a:txBody>
                    <a:bodyPr/>
                    <a:lstStyle/>
                    <a:p>
                      <a:r>
                        <a:rPr sz="2025" b="1">
                          <a:solidFill>
                            <a:srgbClr val="354359"/>
                          </a:solidFill>
                          <a:latin typeface="Times New Roman"/>
                          <a:ea typeface="Times New Roman"/>
                          <a:cs typeface="Times New Roman"/>
                        </a:rPr>
                        <a:t>Core concept</a:t>
                      </a:r>
                    </a:p>
                  </a:txBody>
                  <a:tcPr marL="133350" marR="133350" marT="114300" marB="114300" anchor="ctr">
                    <a:lnL w="9525">
                      <a:solidFill>
                        <a:srgbClr val="DCE4EB"/>
                      </a:solidFill>
                      <a:prstDash val="solid"/>
                    </a:lnL>
                    <a:lnR w="9525">
                      <a:solidFill>
                        <a:srgbClr val="DCE4EB"/>
                      </a:solidFill>
                      <a:prstDash val="solid"/>
                    </a:lnR>
                    <a:lnT w="9525">
                      <a:solidFill>
                        <a:srgbClr val="DCE4EB"/>
                      </a:solidFill>
                      <a:prstDash val="solid"/>
                    </a:lnT>
                    <a:lnB w="9525">
                      <a:solidFill>
                        <a:srgbClr val="DCE4EB"/>
                      </a:solidFill>
                      <a:prstDash val="solid"/>
                    </a:lnB>
                    <a:solidFill>
                      <a:srgbClr val="EEF3F8"/>
                    </a:solidFill>
                  </a:tcPr>
                </a:tc>
                <a:tc>
                  <a:txBody>
                    <a:bodyPr/>
                    <a:lstStyle/>
                    <a:p>
                      <a:r>
                        <a:rPr sz="2025" b="1">
                          <a:solidFill>
                            <a:srgbClr val="354359"/>
                          </a:solidFill>
                          <a:latin typeface="Times New Roman"/>
                          <a:ea typeface="Times New Roman"/>
                          <a:cs typeface="Times New Roman"/>
                        </a:rPr>
                        <a:t>Decision authority</a:t>
                      </a:r>
                    </a:p>
                  </a:txBody>
                  <a:tcPr marL="133350" marR="133350" marT="114300" marB="114300" anchor="ctr">
                    <a:lnR w="9525">
                      <a:solidFill>
                        <a:srgbClr val="DCE4EB"/>
                      </a:solidFill>
                      <a:prstDash val="solid"/>
                    </a:lnR>
                    <a:lnT w="9525">
                      <a:solidFill>
                        <a:srgbClr val="DCE4EB"/>
                      </a:solidFill>
                      <a:prstDash val="solid"/>
                    </a:lnT>
                    <a:lnB w="9525">
                      <a:solidFill>
                        <a:srgbClr val="DCE4EB"/>
                      </a:solidFill>
                      <a:prstDash val="solid"/>
                    </a:lnB>
                    <a:solidFill>
                      <a:srgbClr val="EEF3F8"/>
                    </a:solidFill>
                  </a:tcPr>
                </a:tc>
              </a:tr>
              <a:tr h="628650">
                <a:tc>
                  <a:txBody>
                    <a:bodyPr/>
                    <a:lstStyle/>
                    <a:p>
                      <a:r>
                        <a:rPr sz="2025" b="0">
                          <a:solidFill>
                            <a:srgbClr val="354359"/>
                          </a:solidFill>
                          <a:latin typeface="Times New Roman"/>
                          <a:ea typeface="Times New Roman"/>
                          <a:cs typeface="Times New Roman"/>
                        </a:rPr>
                        <a:t>Validity</a:t>
                      </a:r>
                    </a:p>
                  </a:txBody>
                  <a:tcPr marL="133350" marR="133350" marT="114300" marB="114300" anchor="ctr">
                    <a:lnL w="9525">
                      <a:solidFill>
                        <a:srgbClr val="DCE4EB"/>
                      </a:solidFill>
                      <a:prstDash val="solid"/>
                    </a:lnL>
                    <a:lnR w="9525">
                      <a:solidFill>
                        <a:srgbClr val="DCE4EB"/>
                      </a:solidFill>
                      <a:prstDash val="solid"/>
                    </a:lnR>
                    <a:lnB w="9525">
                      <a:solidFill>
                        <a:srgbClr val="DCE4EB"/>
                      </a:solidFill>
                      <a:prstDash val="solid"/>
                    </a:lnB>
                    <a:solidFill>
                      <a:srgbClr val="FFFFFF"/>
                    </a:solidFill>
                  </a:tcPr>
                </a:tc>
                <a:tc>
                  <a:txBody>
                    <a:bodyPr/>
                    <a:lstStyle/>
                    <a:p>
                      <a:r>
                        <a:rPr sz="2025" b="0">
                          <a:solidFill>
                            <a:srgbClr val="354359"/>
                          </a:solidFill>
                          <a:latin typeface="Times New Roman"/>
                          <a:ea typeface="Times New Roman"/>
                          <a:cs typeface="Times New Roman"/>
                        </a:rPr>
                        <a:t>Quarantine explicit input-contract failures.</a:t>
                      </a:r>
                    </a:p>
                  </a:txBody>
                  <a:tcPr marL="133350" marR="133350" marT="114300" marB="114300" anchor="ctr">
                    <a:lnR w="9525">
                      <a:solidFill>
                        <a:srgbClr val="DCE4EB"/>
                      </a:solidFill>
                      <a:prstDash val="solid"/>
                    </a:lnR>
                    <a:lnB w="9525">
                      <a:solidFill>
                        <a:srgbClr val="DCE4EB"/>
                      </a:solidFill>
                      <a:prstDash val="solid"/>
                    </a:lnB>
                    <a:solidFill>
                      <a:srgbClr val="FFFFFF"/>
                    </a:solidFill>
                  </a:tcPr>
                </a:tc>
              </a:tr>
              <a:tr h="628650">
                <a:tc>
                  <a:txBody>
                    <a:bodyPr/>
                    <a:lstStyle/>
                    <a:p>
                      <a:r>
                        <a:rPr sz="2025" b="0">
                          <a:solidFill>
                            <a:srgbClr val="354359"/>
                          </a:solidFill>
                          <a:latin typeface="Times New Roman"/>
                          <a:ea typeface="Times New Roman"/>
                          <a:cs typeface="Times New Roman"/>
                        </a:rPr>
                        <a:t>Redundancy</a:t>
                      </a:r>
                    </a:p>
                  </a:txBody>
                  <a:tcPr marL="133350" marR="133350" marT="114300" marB="114300" anchor="ctr">
                    <a:lnL w="9525">
                      <a:solidFill>
                        <a:srgbClr val="DCE4EB"/>
                      </a:solidFill>
                      <a:prstDash val="solid"/>
                    </a:lnL>
                    <a:lnR w="9525">
                      <a:solidFill>
                        <a:srgbClr val="DCE4EB"/>
                      </a:solidFill>
                      <a:prstDash val="solid"/>
                    </a:lnR>
                    <a:lnB w="9525">
                      <a:solidFill>
                        <a:srgbClr val="DCE4EB"/>
                      </a:solidFill>
                      <a:prstDash val="solid"/>
                    </a:lnB>
                    <a:solidFill>
                      <a:srgbClr val="FFFFFF"/>
                    </a:solidFill>
                  </a:tcPr>
                </a:tc>
                <a:tc>
                  <a:txBody>
                    <a:bodyPr/>
                    <a:lstStyle/>
                    <a:p>
                      <a:r>
                        <a:rPr sz="2025" b="0">
                          <a:solidFill>
                            <a:srgbClr val="354359"/>
                          </a:solidFill>
                          <a:latin typeface="Times New Roman"/>
                          <a:ea typeface="Times New Roman"/>
                          <a:cs typeface="Times New Roman"/>
                        </a:rPr>
                        <a:t>Require a verified relation and a surviving representative.</a:t>
                      </a:r>
                    </a:p>
                  </a:txBody>
                  <a:tcPr marL="133350" marR="133350" marT="114300" marB="114300" anchor="ctr">
                    <a:lnR w="9525">
                      <a:solidFill>
                        <a:srgbClr val="DCE4EB"/>
                      </a:solidFill>
                      <a:prstDash val="solid"/>
                    </a:lnR>
                    <a:lnB w="9525">
                      <a:solidFill>
                        <a:srgbClr val="DCE4EB"/>
                      </a:solidFill>
                      <a:prstDash val="solid"/>
                    </a:lnB>
                    <a:solidFill>
                      <a:srgbClr val="FFFFFF"/>
                    </a:solidFill>
                  </a:tcPr>
                </a:tc>
              </a:tr>
              <a:tr h="628650">
                <a:tc>
                  <a:txBody>
                    <a:bodyPr/>
                    <a:lstStyle/>
                    <a:p>
                      <a:r>
                        <a:rPr sz="2025" b="0">
                          <a:solidFill>
                            <a:srgbClr val="354359"/>
                          </a:solidFill>
                          <a:latin typeface="Times New Roman"/>
                          <a:ea typeface="Times New Roman"/>
                          <a:cs typeface="Times New Roman"/>
                        </a:rPr>
                        <a:t>Quality</a:t>
                      </a:r>
                    </a:p>
                  </a:txBody>
                  <a:tcPr marL="133350" marR="133350" marT="114300" marB="114300" anchor="ctr">
                    <a:lnL w="9525">
                      <a:solidFill>
                        <a:srgbClr val="DCE4EB"/>
                      </a:solidFill>
                      <a:prstDash val="solid"/>
                    </a:lnL>
                    <a:lnR w="9525">
                      <a:solidFill>
                        <a:srgbClr val="DCE4EB"/>
                      </a:solidFill>
                      <a:prstDash val="solid"/>
                    </a:lnR>
                    <a:lnB w="9525">
                      <a:solidFill>
                        <a:srgbClr val="DCE4EB"/>
                      </a:solidFill>
                      <a:prstDash val="solid"/>
                    </a:lnB>
                    <a:solidFill>
                      <a:srgbClr val="FFFFFF"/>
                    </a:solidFill>
                  </a:tcPr>
                </a:tc>
                <a:tc>
                  <a:txBody>
                    <a:bodyPr/>
                    <a:lstStyle/>
                    <a:p>
                      <a:r>
                        <a:rPr sz="2025" b="0">
                          <a:solidFill>
                            <a:srgbClr val="354359"/>
                          </a:solidFill>
                          <a:latin typeface="Times New Roman"/>
                          <a:ea typeface="Times New Roman"/>
                          <a:cs typeface="Times New Roman"/>
                        </a:rPr>
                        <a:t>Positively select data under declared evidence.</a:t>
                      </a:r>
                    </a:p>
                  </a:txBody>
                  <a:tcPr marL="133350" marR="133350" marT="114300" marB="114300" anchor="ctr">
                    <a:lnR w="9525">
                      <a:solidFill>
                        <a:srgbClr val="DCE4EB"/>
                      </a:solidFill>
                      <a:prstDash val="solid"/>
                    </a:lnR>
                    <a:lnB w="9525">
                      <a:solidFill>
                        <a:srgbClr val="DCE4EB"/>
                      </a:solidFill>
                      <a:prstDash val="solid"/>
                    </a:lnB>
                    <a:solidFill>
                      <a:srgbClr val="FFFFFF"/>
                    </a:solidFill>
                  </a:tcPr>
                </a:tc>
              </a:tr>
              <a:tr h="628650">
                <a:tc>
                  <a:txBody>
                    <a:bodyPr/>
                    <a:lstStyle/>
                    <a:p>
                      <a:r>
                        <a:rPr sz="2025" b="0">
                          <a:solidFill>
                            <a:srgbClr val="354359"/>
                          </a:solidFill>
                          <a:latin typeface="Times New Roman"/>
                          <a:ea typeface="Times New Roman"/>
                          <a:cs typeface="Times New Roman"/>
                        </a:rPr>
                        <a:t>Coverage</a:t>
                      </a:r>
                    </a:p>
                  </a:txBody>
                  <a:tcPr marL="133350" marR="133350" marT="114300" marB="114300" anchor="ctr">
                    <a:lnL w="9525">
                      <a:solidFill>
                        <a:srgbClr val="DCE4EB"/>
                      </a:solidFill>
                      <a:prstDash val="solid"/>
                    </a:lnL>
                    <a:lnR w="9525">
                      <a:solidFill>
                        <a:srgbClr val="DCE4EB"/>
                      </a:solidFill>
                      <a:prstDash val="solid"/>
                    </a:lnR>
                    <a:lnB w="9525">
                      <a:solidFill>
                        <a:srgbClr val="DCE4EB"/>
                      </a:solidFill>
                      <a:prstDash val="solid"/>
                    </a:lnB>
                    <a:solidFill>
                      <a:srgbClr val="FFFFFF"/>
                    </a:solidFill>
                  </a:tcPr>
                </a:tc>
                <a:tc>
                  <a:txBody>
                    <a:bodyPr/>
                    <a:lstStyle/>
                    <a:p>
                      <a:r>
                        <a:rPr sz="2025" b="0">
                          <a:solidFill>
                            <a:srgbClr val="354359"/>
                          </a:solidFill>
                          <a:latin typeface="Times New Roman"/>
                          <a:ea typeface="Times New Roman"/>
                          <a:cs typeface="Times New Roman"/>
                        </a:rPr>
                        <a:t>Veto exclusions that eliminate required support.</a:t>
                      </a:r>
                    </a:p>
                  </a:txBody>
                  <a:tcPr marL="133350" marR="133350" marT="114300" marB="114300" anchor="ctr">
                    <a:lnR w="9525">
                      <a:solidFill>
                        <a:srgbClr val="DCE4EB"/>
                      </a:solidFill>
                      <a:prstDash val="solid"/>
                    </a:lnR>
                    <a:lnB w="9525">
                      <a:solidFill>
                        <a:srgbClr val="DCE4EB"/>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D8B072A-1119-4C68-9D42-67D5E42FEA3D}"/>
              </a:ext>
            </a:extLst>
          </p:cNvPr>
          <p:cNvSpPr>
            <a:spLocks xmlns:a="http://schemas.openxmlformats.org/drawingml/2006/main" noGrp="1"/>
          </p:cNvSpPr>
          <p:nvPr/>
        </p:nvSpPr>
        <p:spPr>
          <a:xfrm xmlns:a="http://schemas.openxmlformats.org/drawingml/2006/main">
            <a:off x="685800" y="55435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354359"/>
                </a:solidFill>
                <a:latin typeface="Times New Roman"/>
                <a:ea typeface="Times New Roman"/>
                <a:cs typeface="Times New Roman"/>
              </a:defRPr>
            </a:defPPr>
          </a:lstStyle>
          <a:p xmlns:a="http://schemas.openxmlformats.org/drawingml/2006/main">
            <a:pPr>
              <a:defRPr sz="2025" b="0">
                <a:solidFill>
                  <a:srgbClr val="354359"/>
                </a:solidFill>
                <a:latin typeface="Times New Roman"/>
                <a:ea typeface="Times New Roman"/>
                <a:cs typeface="Times New Roman"/>
              </a:defRPr>
            </a:pPr>
            <a:r>
              <a:rPr sz="2025" b="0">
                <a:solidFill>
                  <a:srgbClr val="354359"/>
                </a:solidFill>
                <a:latin typeface="Times New Roman"/>
                <a:ea typeface="Times New Roman"/>
                <a:cs typeface="Times New Roman"/>
              </a:rPr>
              <a:t>My contribution: framework design, implementation, experiments,</a:t>
            </a:r>
          </a:p>
          <a:p xmlns:a="http://schemas.openxmlformats.org/drawingml/2006/main">
            <a:pPr>
              <a:defRPr sz="2025" b="0">
                <a:solidFill>
                  <a:srgbClr val="354359"/>
                </a:solidFill>
                <a:latin typeface="Times New Roman"/>
                <a:ea typeface="Times New Roman"/>
                <a:cs typeface="Times New Roman"/>
              </a:defRPr>
            </a:pPr>
            <a:r>
              <a:rPr sz="2025" b="0">
                <a:solidFill>
                  <a:srgbClr val="354359"/>
                </a:solidFill>
                <a:latin typeface="Times New Roman"/>
                <a:ea typeface="Times New Roman"/>
                <a:cs typeface="Times New Roman"/>
              </a:rPr>
              <a:t>and manuscript writing.</a:t>
            </a:r>
          </a:p>
        </p:txBody>
      </p:sp>
    </p:spTree>
    <p:extLst>
      <p:ext uri="{BB962C8B-B14F-4D97-AF65-F5344CB8AC3E}">
        <p14:creationId xmlns:p14="http://schemas.microsoft.com/office/powerpoint/2010/main" val="8138310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427AA7-2E71-4E58-8711-29F207D73D61}"/>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0">
                <a:solidFill>
                  <a:srgbClr val="192B43"/>
                </a:solidFill>
                <a:latin typeface="Times New Roman"/>
                <a:ea typeface="Times New Roman"/>
                <a:cs typeface="Times New Roman"/>
              </a:defRPr>
            </a:defPPr>
          </a:lstStyle>
          <a:p xmlns:a="http://schemas.openxmlformats.org/drawingml/2006/main">
            <a:pPr>
              <a:defRPr sz="3450" b="0">
                <a:solidFill>
                  <a:srgbClr val="192B43"/>
                </a:solidFill>
                <a:latin typeface="Times New Roman"/>
                <a:ea typeface="Times New Roman"/>
                <a:cs typeface="Times New Roman"/>
              </a:defRPr>
            </a:pPr>
            <a:r>
              <a:rPr sz="3450" b="0">
                <a:solidFill>
                  <a:srgbClr val="192B43"/>
                </a:solidFill>
                <a:latin typeface="Times New Roman"/>
                <a:ea typeface="Times New Roman"/>
                <a:cs typeface="Times New Roman"/>
              </a:rPr>
              <a:t>Curation results in the code domain</a:t>
            </a:r>
          </a:p>
        </p:txBody>
      </p:sp>
      <p:sp>
        <p:nvSpPr>
          <p:cNvPr id="2" name="">
            <a:extLst xmlns:a="http://schemas.openxmlformats.org/drawingml/2006/main">
              <a:ext uri="{FF2B5EF4-FFF2-40B4-BE49-F238E27FC236}">
                <a16:creationId xmlns:a16="http://schemas.microsoft.com/office/drawing/2014/main" id="{35497453-1212-438F-A93D-E6B1480D07A4}"/>
              </a:ext>
            </a:extLst>
          </p:cNvPr>
          <p:cNvSpPr>
            <a:spLocks xmlns:a="http://schemas.openxmlformats.org/drawingml/2006/main" noGrp="1"/>
          </p:cNvSpPr>
          <p:nvPr/>
        </p:nvSpPr>
        <p:spPr>
          <a:xfrm xmlns:a="http://schemas.openxmlformats.org/drawingml/2006/main">
            <a:off x="11049000" y="64198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9687B"/>
                </a:solidFill>
                <a:latin typeface="Times New Roman"/>
                <a:ea typeface="Times New Roman"/>
                <a:cs typeface="Times New Roman"/>
              </a:defRPr>
            </a:defPPr>
          </a:lstStyle>
          <a:p xmlns:a="http://schemas.openxmlformats.org/drawingml/2006/main">
            <a:pPr>
              <a:defRPr sz="1350" b="0">
                <a:solidFill>
                  <a:srgbClr val="59687B"/>
                </a:solidFill>
                <a:latin typeface="Times New Roman"/>
                <a:ea typeface="Times New Roman"/>
                <a:cs typeface="Times New Roman"/>
              </a:defRPr>
            </a:pPr>
            <a:r>
              <a:rPr sz="1350" b="0">
                <a:solidFill>
                  <a:srgbClr val="59687B"/>
                </a:solidFill>
                <a:latin typeface="Times New Roman"/>
                <a:ea typeface="Times New Roman"/>
                <a:cs typeface="Times New Roman"/>
              </a:rPr>
              <a:t>04</a:t>
            </a:r>
          </a:p>
        </p:txBody>
      </p:sp>
      <p:sp>
        <p:nvSpPr>
          <p:cNvPr id="3" name="">
            <a:extLst xmlns:a="http://schemas.openxmlformats.org/drawingml/2006/main">
              <a:ext uri="{FF2B5EF4-FFF2-40B4-BE49-F238E27FC236}">
                <a16:creationId xmlns:a16="http://schemas.microsoft.com/office/drawing/2014/main" id="{A4AAAC26-23C3-41D2-BC6C-1EFE53100134}"/>
              </a:ext>
            </a:extLst>
          </p:cNvPr>
          <p:cNvSpPr>
            <a:spLocks xmlns:a="http://schemas.openxmlformats.org/drawingml/2006/main" noGrp="1"/>
          </p:cNvSpPr>
          <p:nvPr/>
        </p:nvSpPr>
        <p:spPr>
          <a:xfrm xmlns:a="http://schemas.openxmlformats.org/drawingml/2006/main">
            <a:off x="685800" y="1381125"/>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354359"/>
                </a:solidFill>
                <a:latin typeface="Times New Roman"/>
                <a:ea typeface="Times New Roman"/>
                <a:cs typeface="Times New Roman"/>
              </a:defRPr>
            </a:defPPr>
          </a:lstStyle>
          <a:p xmlns:a="http://schemas.openxmlformats.org/drawingml/2006/main">
            <a:pPr>
              <a:defRPr sz="2175" b="0">
                <a:solidFill>
                  <a:srgbClr val="354359"/>
                </a:solidFill>
                <a:latin typeface="Times New Roman"/>
                <a:ea typeface="Times New Roman"/>
                <a:cs typeface="Times New Roman"/>
              </a:defRPr>
            </a:pPr>
            <a:r>
              <a:rPr sz="2175" b="0">
                <a:solidFill>
                  <a:srgbClr val="354359"/>
                </a:solidFill>
                <a:latin typeface="Times New Roman"/>
                <a:ea typeface="Times New Roman"/>
                <a:cs typeface="Times New Roman"/>
              </a:rPr>
              <a:t>Qwen3-4B-Base with QLoRA continued pretraining</a:t>
            </a:r>
          </a:p>
          <a:p xmlns:a="http://schemas.openxmlformats.org/drawingml/2006/main">
            <a:pPr>
              <a:defRPr sz="2175" b="0">
                <a:solidFill>
                  <a:srgbClr val="354359"/>
                </a:solidFill>
                <a:latin typeface="Times New Roman"/>
                <a:ea typeface="Times New Roman"/>
                <a:cs typeface="Times New Roman"/>
              </a:defRPr>
            </a:pPr>
            <a:r>
              <a:rPr sz="2175" b="0">
                <a:solidFill>
                  <a:srgbClr val="354359"/>
                </a:solidFill>
                <a:latin typeface="Times New Roman"/>
                <a:ea typeface="Times New Roman"/>
                <a:cs typeface="Times New Roman"/>
              </a:rPr>
              <a:t>Three training seeds and six code benchmarks</a:t>
            </a:r>
          </a:p>
        </p:txBody>
      </p:sp>
      <p:graphicFrame>
        <p:nvGraphicFramePr>
          <p:cNvPr id="4" name="">
            <a:extLst xmlns:a="http://schemas.openxmlformats.org/drawingml/2006/main">
              <a:ext uri="{FF2B5EF4-FFF2-40B4-BE49-F238E27FC236}">
                <a16:creationId xmlns:a16="http://schemas.microsoft.com/office/drawing/2014/main" id="{6F5622EE-2B94-4C9F-8998-9233A8C40D09}"/>
              </a:ext>
            </a:extLst>
          </p:cNvPr>
          <p:cNvGraphicFramePr/>
          <p:nvPr/>
        </p:nvGraphicFramePr>
        <p:xfrm>
          <a:off xmlns:a="http://schemas.openxmlformats.org/drawingml/2006/main" x="685800" y="2571750"/>
          <a:ext xmlns:a="http://schemas.openxmlformats.org/drawingml/2006/main" cx="10820400" cy="2143125"/>
        </p:xfrm>
        <a:graphic xmlns:a="http://schemas.openxmlformats.org/drawingml/2006/main">
          <a:graphicData uri="http://schemas.openxmlformats.org/drawingml/2006/table">
            <a:tbl>
              <a:tblPr firstRow="1" bandRow="0"/>
              <a:tblGrid>
                <a:gridCol w="4857750"/>
                <a:gridCol w="2981325"/>
                <a:gridCol w="2981325"/>
              </a:tblGrid>
              <a:tr h="714375">
                <a:tc>
                  <a:txBody>
                    <a:bodyPr/>
                    <a:lstStyle/>
                    <a:p>
                      <a:r>
                        <a:rPr sz="2175" b="1">
                          <a:solidFill>
                            <a:srgbClr val="354359"/>
                          </a:solidFill>
                          <a:latin typeface="Times New Roman"/>
                          <a:ea typeface="Times New Roman"/>
                          <a:cs typeface="Times New Roman"/>
                        </a:rPr>
                        <a:t>Measure</a:t>
                      </a:r>
                    </a:p>
                  </a:txBody>
                  <a:tcPr marL="133350" marR="133350" marT="114300" marB="114300" anchor="ctr">
                    <a:lnL w="9525">
                      <a:solidFill>
                        <a:srgbClr val="DCE4EB"/>
                      </a:solidFill>
                      <a:prstDash val="solid"/>
                    </a:lnL>
                    <a:lnR w="9525">
                      <a:solidFill>
                        <a:srgbClr val="DCE4EB"/>
                      </a:solidFill>
                      <a:prstDash val="solid"/>
                    </a:lnR>
                    <a:lnT w="9525">
                      <a:solidFill>
                        <a:srgbClr val="DCE4EB"/>
                      </a:solidFill>
                      <a:prstDash val="solid"/>
                    </a:lnT>
                    <a:lnB w="9525">
                      <a:solidFill>
                        <a:srgbClr val="DCE4EB"/>
                      </a:solidFill>
                      <a:prstDash val="solid"/>
                    </a:lnB>
                    <a:solidFill>
                      <a:srgbClr val="EEF3F8"/>
                    </a:solidFill>
                  </a:tcPr>
                </a:tc>
                <a:tc>
                  <a:txBody>
                    <a:bodyPr/>
                    <a:lstStyle/>
                    <a:p>
                      <a:r>
                        <a:rPr sz="2175" b="1">
                          <a:solidFill>
                            <a:srgbClr val="354359"/>
                          </a:solidFill>
                          <a:latin typeface="Times New Roman"/>
                          <a:ea typeface="Times New Roman"/>
                          <a:cs typeface="Times New Roman"/>
                        </a:rPr>
                        <a:t>Raw</a:t>
                      </a:r>
                    </a:p>
                  </a:txBody>
                  <a:tcPr marL="133350" marR="133350" marT="114300" marB="114300" anchor="ctr">
                    <a:lnR w="9525">
                      <a:solidFill>
                        <a:srgbClr val="DCE4EB"/>
                      </a:solidFill>
                      <a:prstDash val="solid"/>
                    </a:lnR>
                    <a:lnT w="9525">
                      <a:solidFill>
                        <a:srgbClr val="DCE4EB"/>
                      </a:solidFill>
                      <a:prstDash val="solid"/>
                    </a:lnT>
                    <a:lnB w="9525">
                      <a:solidFill>
                        <a:srgbClr val="DCE4EB"/>
                      </a:solidFill>
                      <a:prstDash val="solid"/>
                    </a:lnB>
                    <a:solidFill>
                      <a:srgbClr val="EEF3F8"/>
                    </a:solidFill>
                  </a:tcPr>
                </a:tc>
                <a:tc>
                  <a:txBody>
                    <a:bodyPr/>
                    <a:lstStyle/>
                    <a:p>
                      <a:r>
                        <a:rPr sz="2175" b="1">
                          <a:solidFill>
                            <a:srgbClr val="354359"/>
                          </a:solidFill>
                          <a:latin typeface="Times New Roman"/>
                          <a:ea typeface="Times New Roman"/>
                          <a:cs typeface="Times New Roman"/>
                        </a:rPr>
                        <a:t>Hard profile</a:t>
                      </a:r>
                    </a:p>
                  </a:txBody>
                  <a:tcPr marL="133350" marR="133350" marT="114300" marB="114300" anchor="ctr">
                    <a:lnR w="9525">
                      <a:solidFill>
                        <a:srgbClr val="DCE4EB"/>
                      </a:solidFill>
                      <a:prstDash val="solid"/>
                    </a:lnR>
                    <a:lnT w="9525">
                      <a:solidFill>
                        <a:srgbClr val="DCE4EB"/>
                      </a:solidFill>
                      <a:prstDash val="solid"/>
                    </a:lnT>
                    <a:lnB w="9525">
                      <a:solidFill>
                        <a:srgbClr val="DCE4EB"/>
                      </a:solidFill>
                      <a:prstDash val="solid"/>
                    </a:lnB>
                    <a:solidFill>
                      <a:srgbClr val="EEF3F8"/>
                    </a:solidFill>
                  </a:tcPr>
                </a:tc>
              </a:tr>
              <a:tr h="714375">
                <a:tc>
                  <a:txBody>
                    <a:bodyPr/>
                    <a:lstStyle/>
                    <a:p>
                      <a:r>
                        <a:rPr sz="2175" b="0">
                          <a:solidFill>
                            <a:srgbClr val="354359"/>
                          </a:solidFill>
                          <a:latin typeface="Times New Roman"/>
                          <a:ea typeface="Times New Roman"/>
                          <a:cs typeface="Times New Roman"/>
                        </a:rPr>
                        <a:t>Corpus tokens</a:t>
                      </a:r>
                    </a:p>
                  </a:txBody>
                  <a:tcPr marL="133350" marR="133350" marT="114300" marB="114300" anchor="ctr">
                    <a:lnL w="9525">
                      <a:solidFill>
                        <a:srgbClr val="DCE4EB"/>
                      </a:solidFill>
                      <a:prstDash val="solid"/>
                    </a:lnL>
                    <a:lnR w="9525">
                      <a:solidFill>
                        <a:srgbClr val="DCE4EB"/>
                      </a:solidFill>
                      <a:prstDash val="solid"/>
                    </a:lnR>
                    <a:lnB w="9525">
                      <a:solidFill>
                        <a:srgbClr val="DCE4EB"/>
                      </a:solidFill>
                      <a:prstDash val="solid"/>
                    </a:lnB>
                    <a:solidFill>
                      <a:srgbClr val="FFFFFF"/>
                    </a:solidFill>
                  </a:tcPr>
                </a:tc>
                <a:tc>
                  <a:txBody>
                    <a:bodyPr/>
                    <a:lstStyle/>
                    <a:p>
                      <a:r>
                        <a:rPr sz="2175" b="0">
                          <a:solidFill>
                            <a:srgbClr val="354359"/>
                          </a:solidFill>
                          <a:latin typeface="Times New Roman"/>
                          <a:ea typeface="Times New Roman"/>
                          <a:cs typeface="Times New Roman"/>
                        </a:rPr>
                        <a:t>6,984,438</a:t>
                      </a:r>
                    </a:p>
                  </a:txBody>
                  <a:tcPr marL="133350" marR="133350" marT="114300" marB="114300" anchor="ctr">
                    <a:lnR w="9525">
                      <a:solidFill>
                        <a:srgbClr val="DCE4EB"/>
                      </a:solidFill>
                      <a:prstDash val="solid"/>
                    </a:lnR>
                    <a:lnB w="9525">
                      <a:solidFill>
                        <a:srgbClr val="DCE4EB"/>
                      </a:solidFill>
                      <a:prstDash val="solid"/>
                    </a:lnB>
                    <a:solidFill>
                      <a:srgbClr val="FFFFFF"/>
                    </a:solidFill>
                  </a:tcPr>
                </a:tc>
                <a:tc>
                  <a:txBody>
                    <a:bodyPr/>
                    <a:lstStyle/>
                    <a:p>
                      <a:r>
                        <a:rPr sz="2175" b="0">
                          <a:solidFill>
                            <a:srgbClr val="354359"/>
                          </a:solidFill>
                          <a:latin typeface="Times New Roman"/>
                          <a:ea typeface="Times New Roman"/>
                          <a:cs typeface="Times New Roman"/>
                        </a:rPr>
                        <a:t>5,032,400</a:t>
                      </a:r>
                    </a:p>
                  </a:txBody>
                  <a:tcPr marL="133350" marR="133350" marT="114300" marB="114300" anchor="ctr">
                    <a:lnR w="9525">
                      <a:solidFill>
                        <a:srgbClr val="DCE4EB"/>
                      </a:solidFill>
                      <a:prstDash val="solid"/>
                    </a:lnR>
                    <a:lnB w="9525">
                      <a:solidFill>
                        <a:srgbClr val="DCE4EB"/>
                      </a:solidFill>
                      <a:prstDash val="solid"/>
                    </a:lnB>
                    <a:solidFill>
                      <a:srgbClr val="FFFFFF"/>
                    </a:solidFill>
                  </a:tcPr>
                </a:tc>
              </a:tr>
              <a:tr h="714375">
                <a:tc>
                  <a:txBody>
                    <a:bodyPr/>
                    <a:lstStyle/>
                    <a:p>
                      <a:r>
                        <a:rPr sz="2175" b="0">
                          <a:solidFill>
                            <a:srgbClr val="354359"/>
                          </a:solidFill>
                          <a:latin typeface="Times New Roman"/>
                          <a:ea typeface="Times New Roman"/>
                          <a:cs typeface="Times New Roman"/>
                        </a:rPr>
                        <a:t>Primary macro (mean ± SD)</a:t>
                      </a:r>
                    </a:p>
                  </a:txBody>
                  <a:tcPr marL="133350" marR="133350" marT="114300" marB="114300" anchor="ctr">
                    <a:lnL w="9525">
                      <a:solidFill>
                        <a:srgbClr val="DCE4EB"/>
                      </a:solidFill>
                      <a:prstDash val="solid"/>
                    </a:lnL>
                    <a:lnR w="9525">
                      <a:solidFill>
                        <a:srgbClr val="DCE4EB"/>
                      </a:solidFill>
                      <a:prstDash val="solid"/>
                    </a:lnR>
                    <a:lnB w="9525">
                      <a:solidFill>
                        <a:srgbClr val="DCE4EB"/>
                      </a:solidFill>
                      <a:prstDash val="solid"/>
                    </a:lnB>
                    <a:solidFill>
                      <a:srgbClr val="FFFFFF"/>
                    </a:solidFill>
                  </a:tcPr>
                </a:tc>
                <a:tc>
                  <a:txBody>
                    <a:bodyPr/>
                    <a:lstStyle/>
                    <a:p>
                      <a:r>
                        <a:rPr sz="2175" b="0">
                          <a:solidFill>
                            <a:srgbClr val="354359"/>
                          </a:solidFill>
                          <a:latin typeface="Times New Roman"/>
                          <a:ea typeface="Times New Roman"/>
                          <a:cs typeface="Times New Roman"/>
                        </a:rPr>
                        <a:t>20.86 ± 0.35</a:t>
                      </a:r>
                    </a:p>
                  </a:txBody>
                  <a:tcPr marL="133350" marR="133350" marT="114300" marB="114300" anchor="ctr">
                    <a:lnR w="9525">
                      <a:solidFill>
                        <a:srgbClr val="DCE4EB"/>
                      </a:solidFill>
                      <a:prstDash val="solid"/>
                    </a:lnR>
                    <a:lnB w="9525">
                      <a:solidFill>
                        <a:srgbClr val="DCE4EB"/>
                      </a:solidFill>
                      <a:prstDash val="solid"/>
                    </a:lnB>
                    <a:solidFill>
                      <a:srgbClr val="FFFFFF"/>
                    </a:solidFill>
                  </a:tcPr>
                </a:tc>
                <a:tc>
                  <a:txBody>
                    <a:bodyPr/>
                    <a:lstStyle/>
                    <a:p>
                      <a:r>
                        <a:rPr sz="2175" b="0">
                          <a:solidFill>
                            <a:srgbClr val="354359"/>
                          </a:solidFill>
                          <a:latin typeface="Times New Roman"/>
                          <a:ea typeface="Times New Roman"/>
                          <a:cs typeface="Times New Roman"/>
                        </a:rPr>
                        <a:t>20.80 ± 0.44</a:t>
                      </a:r>
                    </a:p>
                  </a:txBody>
                  <a:tcPr marL="133350" marR="133350" marT="114300" marB="114300" anchor="ctr">
                    <a:lnR w="9525">
                      <a:solidFill>
                        <a:srgbClr val="DCE4EB"/>
                      </a:solidFill>
                      <a:prstDash val="solid"/>
                    </a:lnR>
                    <a:lnB w="9525">
                      <a:solidFill>
                        <a:srgbClr val="DCE4E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0CC3E00-1930-4780-89EC-21B6BC370548}"/>
              </a:ext>
            </a:extLst>
          </p:cNvPr>
          <p:cNvSpPr>
            <a:spLocks xmlns:a="http://schemas.openxmlformats.org/drawingml/2006/main" noGrp="1"/>
          </p:cNvSpPr>
          <p:nvPr/>
        </p:nvSpPr>
        <p:spPr>
          <a:xfrm xmlns:a="http://schemas.openxmlformats.org/drawingml/2006/main">
            <a:off x="685800" y="50577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35E91"/>
                </a:solidFill>
                <a:latin typeface="Times New Roman"/>
                <a:ea typeface="Times New Roman"/>
                <a:cs typeface="Times New Roman"/>
              </a:defRPr>
            </a:defPPr>
          </a:lstStyle>
          <a:p xmlns:a="http://schemas.openxmlformats.org/drawingml/2006/main">
            <a:pPr>
              <a:defRPr sz="3000" b="1">
                <a:solidFill>
                  <a:srgbClr val="235E91"/>
                </a:solidFill>
                <a:latin typeface="Times New Roman"/>
                <a:ea typeface="Times New Roman"/>
                <a:cs typeface="Times New Roman"/>
              </a:defRPr>
            </a:pPr>
            <a:r>
              <a:rPr sz="3000" b="1">
                <a:solidFill>
                  <a:srgbClr val="235E91"/>
                </a:solidFill>
                <a:latin typeface="Times New Roman"/>
                <a:ea typeface="Times New Roman"/>
                <a:cs typeface="Times New Roman"/>
              </a:rPr>
              <a:t>27.95% fewer corpus tokens</a:t>
            </a:r>
          </a:p>
        </p:txBody>
      </p:sp>
      <p:sp>
        <p:nvSpPr>
          <p:cNvPr id="6" name="">
            <a:extLst xmlns:a="http://schemas.openxmlformats.org/drawingml/2006/main">
              <a:ext uri="{FF2B5EF4-FFF2-40B4-BE49-F238E27FC236}">
                <a16:creationId xmlns:a16="http://schemas.microsoft.com/office/drawing/2014/main" id="{C51E9F8D-BA39-468F-9CAA-81DCF2FB0542}"/>
              </a:ext>
            </a:extLst>
          </p:cNvPr>
          <p:cNvSpPr>
            <a:spLocks xmlns:a="http://schemas.openxmlformats.org/drawingml/2006/main" noGrp="1"/>
          </p:cNvSpPr>
          <p:nvPr/>
        </p:nvSpPr>
        <p:spPr>
          <a:xfrm xmlns:a="http://schemas.openxmlformats.org/drawingml/2006/main">
            <a:off x="685800" y="57340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9687B"/>
                </a:solidFill>
                <a:latin typeface="Times New Roman"/>
                <a:ea typeface="Times New Roman"/>
                <a:cs typeface="Times New Roman"/>
              </a:defRPr>
            </a:defPPr>
          </a:lstStyle>
          <a:p xmlns:a="http://schemas.openxmlformats.org/drawingml/2006/main">
            <a:pPr>
              <a:defRPr sz="1800" b="0">
                <a:solidFill>
                  <a:srgbClr val="59687B"/>
                </a:solidFill>
                <a:latin typeface="Times New Roman"/>
                <a:ea typeface="Times New Roman"/>
                <a:cs typeface="Times New Roman"/>
              </a:defRPr>
            </a:pPr>
            <a:r>
              <a:rPr sz="1800" b="0">
                <a:solidFill>
                  <a:srgbClr val="59687B"/>
                </a:solidFill>
                <a:latin typeface="Times New Roman"/>
                <a:ea typeface="Times New Roman"/>
                <a:cs typeface="Times New Roman"/>
              </a:rPr>
              <a:t>The primary macro uses four benchmarks. Task-level changes were mixed.</a:t>
            </a:r>
          </a:p>
          <a:p xmlns:a="http://schemas.openxmlformats.org/drawingml/2006/main">
            <a:pPr>
              <a:defRPr sz="1800" b="0">
                <a:solidFill>
                  <a:srgbClr val="59687B"/>
                </a:solidFill>
                <a:latin typeface="Times New Roman"/>
                <a:ea typeface="Times New Roman"/>
                <a:cs typeface="Times New Roman"/>
              </a:defRPr>
            </a:pPr>
            <a:r>
              <a:rPr sz="1800" b="0">
                <a:solidFill>
                  <a:srgbClr val="59687B"/>
                </a:solidFill>
                <a:latin typeface="Times New Roman"/>
                <a:ea typeface="Times New Roman"/>
                <a:cs typeface="Times New Roman"/>
              </a:rPr>
              <a:t>Token reduction does not establish training-time savings.</a:t>
            </a:r>
          </a:p>
        </p:txBody>
      </p:sp>
    </p:spTree>
    <p:extLst>
      <p:ext uri="{BB962C8B-B14F-4D97-AF65-F5344CB8AC3E}">
        <p14:creationId xmlns:p14="http://schemas.microsoft.com/office/powerpoint/2010/main" val="9718085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2CBA09-9778-4D57-B883-96B25CF45A53}"/>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0">
                <a:solidFill>
                  <a:srgbClr val="192B43"/>
                </a:solidFill>
                <a:latin typeface="Times New Roman"/>
                <a:ea typeface="Times New Roman"/>
                <a:cs typeface="Times New Roman"/>
              </a:defRPr>
            </a:defPPr>
          </a:lstStyle>
          <a:p xmlns:a="http://schemas.openxmlformats.org/drawingml/2006/main">
            <a:pPr>
              <a:defRPr sz="3450" b="0">
                <a:solidFill>
                  <a:srgbClr val="192B43"/>
                </a:solidFill>
                <a:latin typeface="Times New Roman"/>
                <a:ea typeface="Times New Roman"/>
                <a:cs typeface="Times New Roman"/>
              </a:defRPr>
            </a:pPr>
            <a:r>
              <a:rPr sz="3450" b="0">
                <a:solidFill>
                  <a:srgbClr val="192B43"/>
                </a:solidFill>
                <a:latin typeface="Times New Roman"/>
                <a:ea typeface="Times New Roman"/>
                <a:cs typeface="Times New Roman"/>
              </a:rPr>
              <a:t>OptimABS: adaptive optimizer variants</a:t>
            </a:r>
          </a:p>
        </p:txBody>
      </p:sp>
      <p:sp>
        <p:nvSpPr>
          <p:cNvPr id="2" name="">
            <a:extLst xmlns:a="http://schemas.openxmlformats.org/drawingml/2006/main">
              <a:ext uri="{FF2B5EF4-FFF2-40B4-BE49-F238E27FC236}">
                <a16:creationId xmlns:a16="http://schemas.microsoft.com/office/drawing/2014/main" id="{7D889E0D-127F-43DD-9D80-1F758F1B7CE6}"/>
              </a:ext>
            </a:extLst>
          </p:cNvPr>
          <p:cNvSpPr>
            <a:spLocks xmlns:a="http://schemas.openxmlformats.org/drawingml/2006/main" noGrp="1"/>
          </p:cNvSpPr>
          <p:nvPr/>
        </p:nvSpPr>
        <p:spPr>
          <a:xfrm xmlns:a="http://schemas.openxmlformats.org/drawingml/2006/main">
            <a:off x="11049000" y="64198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9687B"/>
                </a:solidFill>
                <a:latin typeface="Times New Roman"/>
                <a:ea typeface="Times New Roman"/>
                <a:cs typeface="Times New Roman"/>
              </a:defRPr>
            </a:defPPr>
          </a:lstStyle>
          <a:p xmlns:a="http://schemas.openxmlformats.org/drawingml/2006/main">
            <a:pPr>
              <a:defRPr sz="1350" b="0">
                <a:solidFill>
                  <a:srgbClr val="59687B"/>
                </a:solidFill>
                <a:latin typeface="Times New Roman"/>
                <a:ea typeface="Times New Roman"/>
                <a:cs typeface="Times New Roman"/>
              </a:defRPr>
            </a:pPr>
            <a:r>
              <a:rPr sz="1350" b="0">
                <a:solidFill>
                  <a:srgbClr val="59687B"/>
                </a:solidFill>
                <a:latin typeface="Times New Roman"/>
                <a:ea typeface="Times New Roman"/>
                <a:cs typeface="Times New Roman"/>
              </a:rPr>
              <a:t>05</a:t>
            </a:r>
          </a:p>
        </p:txBody>
      </p:sp>
      <p:sp>
        <p:nvSpPr>
          <p:cNvPr id="3" name="">
            <a:extLst xmlns:a="http://schemas.openxmlformats.org/drawingml/2006/main">
              <a:ext uri="{FF2B5EF4-FFF2-40B4-BE49-F238E27FC236}">
                <a16:creationId xmlns:a16="http://schemas.microsoft.com/office/drawing/2014/main" id="{7C4BB14B-CFA9-4CE2-98F3-403459485BC3}"/>
              </a:ext>
            </a:extLst>
          </p:cNvPr>
          <p:cNvSpPr>
            <a:spLocks xmlns:a="http://schemas.openxmlformats.org/drawingml/2006/main" noGrp="1"/>
          </p:cNvSpPr>
          <p:nvPr/>
        </p:nvSpPr>
        <p:spPr>
          <a:xfrm xmlns:a="http://schemas.openxmlformats.org/drawingml/2006/main">
            <a:off x="685800" y="14001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35E91"/>
                </a:solidFill>
                <a:latin typeface="Times New Roman"/>
                <a:ea typeface="Times New Roman"/>
                <a:cs typeface="Times New Roman"/>
              </a:defRPr>
            </a:defPPr>
          </a:lstStyle>
          <a:p xmlns:a="http://schemas.openxmlformats.org/drawingml/2006/main">
            <a:pPr>
              <a:defRPr sz="2250" b="0">
                <a:solidFill>
                  <a:srgbClr val="235E91"/>
                </a:solidFill>
                <a:latin typeface="Times New Roman"/>
                <a:ea typeface="Times New Roman"/>
                <a:cs typeface="Times New Roman"/>
              </a:defRPr>
            </a:pPr>
            <a:r>
              <a:rPr sz="2250" b="0">
                <a:solidFill>
                  <a:srgbClr val="235E91"/>
                </a:solidFill>
                <a:latin typeface="Times New Roman"/>
                <a:ea typeface="Times New Roman"/>
                <a:cs typeface="Times New Roman"/>
              </a:rPr>
              <a:t>Replace squared-gradient accumulation with absolute gradients.</a:t>
            </a:r>
          </a:p>
        </p:txBody>
      </p:sp>
      <p:sp>
        <p:nvSpPr>
          <p:cNvPr id="4" name="">
            <a:extLst xmlns:a="http://schemas.openxmlformats.org/drawingml/2006/main">
              <a:ext uri="{FF2B5EF4-FFF2-40B4-BE49-F238E27FC236}">
                <a16:creationId xmlns:a16="http://schemas.microsoft.com/office/drawing/2014/main" id="{7DEED5F7-056D-458F-9D0E-BA12D11056BC}"/>
              </a:ext>
            </a:extLst>
          </p:cNvPr>
          <p:cNvSpPr>
            <a:spLocks xmlns:a="http://schemas.openxmlformats.org/drawingml/2006/main" noGrp="1"/>
          </p:cNvSpPr>
          <p:nvPr/>
        </p:nvSpPr>
        <p:spPr>
          <a:xfrm xmlns:a="http://schemas.openxmlformats.org/drawingml/2006/main">
            <a:off x="685800" y="22669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2B43"/>
                </a:solidFill>
                <a:latin typeface="Times New Roman"/>
                <a:ea typeface="Times New Roman"/>
                <a:cs typeface="Times New Roman"/>
              </a:defRPr>
            </a:defPPr>
          </a:lstStyle>
          <a:p xmlns:a="http://schemas.openxmlformats.org/drawingml/2006/main">
            <a:pPr>
              <a:defRPr sz="2175" b="1">
                <a:solidFill>
                  <a:srgbClr val="192B43"/>
                </a:solidFill>
                <a:latin typeface="Times New Roman"/>
                <a:ea typeface="Times New Roman"/>
                <a:cs typeface="Times New Roman"/>
              </a:defRPr>
            </a:pPr>
            <a:r>
              <a:rPr sz="2175" b="1">
                <a:solidFill>
                  <a:srgbClr val="192B43"/>
                </a:solidFill>
                <a:latin typeface="Times New Roman"/>
                <a:ea typeface="Times New Roman"/>
                <a:cs typeface="Times New Roman"/>
              </a:rPr>
              <a:t>Conventional normalization</a:t>
            </a:r>
          </a:p>
        </p:txBody>
      </p:sp>
      <p:sp>
        <p:nvSpPr>
          <p:cNvPr id="5" name="">
            <a:extLst xmlns:a="http://schemas.openxmlformats.org/drawingml/2006/main">
              <a:ext uri="{FF2B5EF4-FFF2-40B4-BE49-F238E27FC236}">
                <a16:creationId xmlns:a16="http://schemas.microsoft.com/office/drawing/2014/main" id="{BC4D1D83-62AA-43EA-AB8A-F91F0D16B006}"/>
              </a:ext>
            </a:extLst>
          </p:cNvPr>
          <p:cNvSpPr>
            <a:spLocks xmlns:a="http://schemas.openxmlformats.org/drawingml/2006/main" noGrp="1"/>
          </p:cNvSpPr>
          <p:nvPr/>
        </p:nvSpPr>
        <p:spPr>
          <a:xfrm xmlns:a="http://schemas.openxmlformats.org/drawingml/2006/main">
            <a:off x="685800" y="2962275"/>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354359"/>
                </a:solidFill>
                <a:latin typeface="Times New Roman"/>
                <a:ea typeface="Times New Roman"/>
                <a:cs typeface="Times New Roman"/>
              </a:defRPr>
            </a:defPPr>
          </a:lstStyle>
          <a:p xmlns:a="http://schemas.openxmlformats.org/drawingml/2006/main">
            <a:pPr>
              <a:defRPr sz="2325" b="0">
                <a:solidFill>
                  <a:srgbClr val="354359"/>
                </a:solidFill>
                <a:latin typeface="Times New Roman"/>
                <a:ea typeface="Times New Roman"/>
                <a:cs typeface="Times New Roman"/>
              </a:defRPr>
            </a:pPr>
            <a:r>
              <a:rPr sz="2325" b="0">
                <a:solidFill>
                  <a:srgbClr val="354359"/>
                </a:solidFill>
                <a:latin typeface="Times New Roman"/>
                <a:ea typeface="Times New Roman"/>
                <a:cs typeface="Times New Roman"/>
              </a:rPr>
              <a:t>vₜ = βvₜ₋₁ + (1 − β)gₜ²</a:t>
            </a:r>
          </a:p>
          <a:p xmlns:a="http://schemas.openxmlformats.org/drawingml/2006/main">
            <a:r>
              <a:t/>
            </a:r>
          </a:p>
          <a:p xmlns:a="http://schemas.openxmlformats.org/drawingml/2006/main">
            <a:pPr>
              <a:defRPr sz="2325" b="0">
                <a:solidFill>
                  <a:srgbClr val="354359"/>
                </a:solidFill>
                <a:latin typeface="Times New Roman"/>
                <a:ea typeface="Times New Roman"/>
                <a:cs typeface="Times New Roman"/>
              </a:defRPr>
            </a:pPr>
            <a:r>
              <a:rPr sz="2325" b="0">
                <a:solidFill>
                  <a:srgbClr val="354359"/>
                </a:solidFill>
                <a:latin typeface="Times New Roman"/>
                <a:ea typeface="Times New Roman"/>
                <a:cs typeface="Times New Roman"/>
              </a:rPr>
              <a:t>θₜ₊₁ = θₜ − αgₜ / (√vₜ + ε)</a:t>
            </a:r>
          </a:p>
        </p:txBody>
      </p:sp>
      <p:sp>
        <p:nvSpPr>
          <p:cNvPr id="6" name="">
            <a:extLst xmlns:a="http://schemas.openxmlformats.org/drawingml/2006/main">
              <a:ext uri="{FF2B5EF4-FFF2-40B4-BE49-F238E27FC236}">
                <a16:creationId xmlns:a16="http://schemas.microsoft.com/office/drawing/2014/main" id="{B2AB5814-A356-481F-A4F6-33B4F8D46AFC}"/>
              </a:ext>
            </a:extLst>
          </p:cNvPr>
          <p:cNvSpPr>
            <a:spLocks xmlns:a="http://schemas.openxmlformats.org/drawingml/2006/main" noGrp="1"/>
          </p:cNvSpPr>
          <p:nvPr/>
        </p:nvSpPr>
        <p:spPr>
          <a:xfrm xmlns:a="http://schemas.openxmlformats.org/drawingml/2006/main">
            <a:off x="6762750" y="2266950"/>
            <a:ext cx="4743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2B43"/>
                </a:solidFill>
                <a:latin typeface="Times New Roman"/>
                <a:ea typeface="Times New Roman"/>
                <a:cs typeface="Times New Roman"/>
              </a:defRPr>
            </a:defPPr>
          </a:lstStyle>
          <a:p xmlns:a="http://schemas.openxmlformats.org/drawingml/2006/main">
            <a:pPr>
              <a:defRPr sz="2175" b="1">
                <a:solidFill>
                  <a:srgbClr val="192B43"/>
                </a:solidFill>
                <a:latin typeface="Times New Roman"/>
                <a:ea typeface="Times New Roman"/>
                <a:cs typeface="Times New Roman"/>
              </a:defRPr>
            </a:pPr>
            <a:r>
              <a:rPr sz="2175" b="1">
                <a:solidFill>
                  <a:srgbClr val="192B43"/>
                </a:solidFill>
                <a:latin typeface="Times New Roman"/>
                <a:ea typeface="Times New Roman"/>
                <a:cs typeface="Times New Roman"/>
              </a:rPr>
              <a:t>Absolute-gradient variant</a:t>
            </a:r>
          </a:p>
        </p:txBody>
      </p:sp>
      <p:sp>
        <p:nvSpPr>
          <p:cNvPr id="7" name="">
            <a:extLst xmlns:a="http://schemas.openxmlformats.org/drawingml/2006/main">
              <a:ext uri="{FF2B5EF4-FFF2-40B4-BE49-F238E27FC236}">
                <a16:creationId xmlns:a16="http://schemas.microsoft.com/office/drawing/2014/main" id="{57D52D68-5C53-44A8-BE09-5F1A29A5D04F}"/>
              </a:ext>
            </a:extLst>
          </p:cNvPr>
          <p:cNvSpPr>
            <a:spLocks xmlns:a="http://schemas.openxmlformats.org/drawingml/2006/main" noGrp="1"/>
          </p:cNvSpPr>
          <p:nvPr/>
        </p:nvSpPr>
        <p:spPr>
          <a:xfrm xmlns:a="http://schemas.openxmlformats.org/drawingml/2006/main">
            <a:off x="6762750" y="2962275"/>
            <a:ext cx="47434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354359"/>
                </a:solidFill>
                <a:latin typeface="Times New Roman"/>
                <a:ea typeface="Times New Roman"/>
                <a:cs typeface="Times New Roman"/>
              </a:defRPr>
            </a:defPPr>
          </a:lstStyle>
          <a:p xmlns:a="http://schemas.openxmlformats.org/drawingml/2006/main">
            <a:pPr>
              <a:defRPr sz="2325" b="0">
                <a:solidFill>
                  <a:srgbClr val="354359"/>
                </a:solidFill>
                <a:latin typeface="Times New Roman"/>
                <a:ea typeface="Times New Roman"/>
                <a:cs typeface="Times New Roman"/>
              </a:defRPr>
            </a:pPr>
            <a:r>
              <a:rPr sz="2325" b="0">
                <a:solidFill>
                  <a:srgbClr val="354359"/>
                </a:solidFill>
                <a:latin typeface="Times New Roman"/>
                <a:ea typeface="Times New Roman"/>
                <a:cs typeface="Times New Roman"/>
              </a:rPr>
              <a:t>vₜ = βvₜ₋₁ + (1 − β)|gₜ|</a:t>
            </a:r>
          </a:p>
          <a:p xmlns:a="http://schemas.openxmlformats.org/drawingml/2006/main">
            <a:r>
              <a:t/>
            </a:r>
          </a:p>
          <a:p xmlns:a="http://schemas.openxmlformats.org/drawingml/2006/main">
            <a:pPr>
              <a:defRPr sz="2325" b="0">
                <a:solidFill>
                  <a:srgbClr val="354359"/>
                </a:solidFill>
                <a:latin typeface="Times New Roman"/>
                <a:ea typeface="Times New Roman"/>
                <a:cs typeface="Times New Roman"/>
              </a:defRPr>
            </a:pPr>
            <a:r>
              <a:rPr sz="2325" b="0">
                <a:solidFill>
                  <a:srgbClr val="354359"/>
                </a:solidFill>
                <a:latin typeface="Times New Roman"/>
                <a:ea typeface="Times New Roman"/>
                <a:cs typeface="Times New Roman"/>
              </a:rPr>
              <a:t>θₜ₊₁ = θₜ − αgₜ / (vₜ + ε)</a:t>
            </a:r>
          </a:p>
        </p:txBody>
      </p:sp>
      <p:sp>
        <p:nvSpPr>
          <p:cNvPr id="8" name="">
            <a:extLst xmlns:a="http://schemas.openxmlformats.org/drawingml/2006/main">
              <a:ext uri="{FF2B5EF4-FFF2-40B4-BE49-F238E27FC236}">
                <a16:creationId xmlns:a16="http://schemas.microsoft.com/office/drawing/2014/main" id="{EB585777-C395-4E52-AED8-586B03D8958A}"/>
              </a:ext>
            </a:extLst>
          </p:cNvPr>
          <p:cNvSpPr>
            <a:spLocks xmlns:a="http://schemas.openxmlformats.org/drawingml/2006/main" noGrp="1"/>
          </p:cNvSpPr>
          <p:nvPr/>
        </p:nvSpPr>
        <p:spPr>
          <a:xfrm xmlns:a="http://schemas.openxmlformats.org/drawingml/2006/main">
            <a:off x="685800" y="5391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354359"/>
                </a:solidFill>
                <a:latin typeface="Times New Roman"/>
                <a:ea typeface="Times New Roman"/>
                <a:cs typeface="Times New Roman"/>
              </a:defRPr>
            </a:defPPr>
          </a:lstStyle>
          <a:p xmlns:a="http://schemas.openxmlformats.org/drawingml/2006/main">
            <a:pPr>
              <a:defRPr sz="2025" b="0">
                <a:solidFill>
                  <a:srgbClr val="354359"/>
                </a:solidFill>
                <a:latin typeface="Times New Roman"/>
                <a:ea typeface="Times New Roman"/>
                <a:cs typeface="Times New Roman"/>
              </a:defRPr>
            </a:pPr>
            <a:r>
              <a:rPr sz="2025" b="0">
                <a:solidFill>
                  <a:srgbClr val="354359"/>
                </a:solidFill>
                <a:latin typeface="Times New Roman"/>
                <a:ea typeface="Times New Roman"/>
                <a:cs typeface="Times New Roman"/>
              </a:rPr>
              <a:t>Illustration of the normalization change.</a:t>
            </a:r>
          </a:p>
          <a:p xmlns:a="http://schemas.openxmlformats.org/drawingml/2006/main">
            <a:pPr>
              <a:defRPr sz="2025" b="0">
                <a:solidFill>
                  <a:srgbClr val="354359"/>
                </a:solidFill>
                <a:latin typeface="Times New Roman"/>
                <a:ea typeface="Times New Roman"/>
                <a:cs typeface="Times New Roman"/>
              </a:defRPr>
            </a:pPr>
            <a:r>
              <a:rPr sz="2025" b="0">
                <a:solidFill>
                  <a:srgbClr val="354359"/>
                </a:solidFill>
                <a:latin typeface="Times New Roman"/>
                <a:ea typeface="Times New Roman"/>
                <a:cs typeface="Times New Roman"/>
              </a:rPr>
              <a:t>I proposed the idea and led implementation and experiments.</a:t>
            </a:r>
          </a:p>
        </p:txBody>
      </p:sp>
    </p:spTree>
    <p:extLst>
      <p:ext uri="{BB962C8B-B14F-4D97-AF65-F5344CB8AC3E}">
        <p14:creationId xmlns:p14="http://schemas.microsoft.com/office/powerpoint/2010/main" val="18621731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D879BE-77AD-45B3-BFDB-07AC4D419EA0}"/>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0">
                <a:solidFill>
                  <a:srgbClr val="192B43"/>
                </a:solidFill>
                <a:latin typeface="Times New Roman"/>
                <a:ea typeface="Times New Roman"/>
                <a:cs typeface="Times New Roman"/>
              </a:defRPr>
            </a:defPPr>
          </a:lstStyle>
          <a:p xmlns:a="http://schemas.openxmlformats.org/drawingml/2006/main">
            <a:pPr>
              <a:defRPr sz="3450" b="0">
                <a:solidFill>
                  <a:srgbClr val="192B43"/>
                </a:solidFill>
                <a:latin typeface="Times New Roman"/>
                <a:ea typeface="Times New Roman"/>
                <a:cs typeface="Times New Roman"/>
              </a:defRPr>
            </a:pPr>
            <a:r>
              <a:rPr sz="3450" b="0">
                <a:solidFill>
                  <a:srgbClr val="192B43"/>
                </a:solidFill>
                <a:latin typeface="Times New Roman"/>
                <a:ea typeface="Times New Roman"/>
                <a:cs typeface="Times New Roman"/>
              </a:rPr>
              <a:t>OptimABS: measured time–accuracy tradeoffs</a:t>
            </a:r>
          </a:p>
        </p:txBody>
      </p:sp>
      <p:sp>
        <p:nvSpPr>
          <p:cNvPr id="2" name="">
            <a:extLst xmlns:a="http://schemas.openxmlformats.org/drawingml/2006/main">
              <a:ext uri="{FF2B5EF4-FFF2-40B4-BE49-F238E27FC236}">
                <a16:creationId xmlns:a16="http://schemas.microsoft.com/office/drawing/2014/main" id="{1C3E5632-2F87-4E06-9D7A-9B811793F47B}"/>
              </a:ext>
            </a:extLst>
          </p:cNvPr>
          <p:cNvSpPr>
            <a:spLocks xmlns:a="http://schemas.openxmlformats.org/drawingml/2006/main" noGrp="1"/>
          </p:cNvSpPr>
          <p:nvPr/>
        </p:nvSpPr>
        <p:spPr>
          <a:xfrm xmlns:a="http://schemas.openxmlformats.org/drawingml/2006/main">
            <a:off x="11049000" y="64198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9687B"/>
                </a:solidFill>
                <a:latin typeface="Times New Roman"/>
                <a:ea typeface="Times New Roman"/>
                <a:cs typeface="Times New Roman"/>
              </a:defRPr>
            </a:defPPr>
          </a:lstStyle>
          <a:p xmlns:a="http://schemas.openxmlformats.org/drawingml/2006/main">
            <a:pPr>
              <a:defRPr sz="1350" b="0">
                <a:solidFill>
                  <a:srgbClr val="59687B"/>
                </a:solidFill>
                <a:latin typeface="Times New Roman"/>
                <a:ea typeface="Times New Roman"/>
                <a:cs typeface="Times New Roman"/>
              </a:defRPr>
            </a:pPr>
            <a:r>
              <a:rPr sz="1350" b="0">
                <a:solidFill>
                  <a:srgbClr val="59687B"/>
                </a:solidFill>
                <a:latin typeface="Times New Roman"/>
                <a:ea typeface="Times New Roman"/>
                <a:cs typeface="Times New Roman"/>
              </a:rPr>
              <a:t>06</a:t>
            </a:r>
          </a:p>
        </p:txBody>
      </p:sp>
      <p:sp>
        <p:nvSpPr>
          <p:cNvPr id="3" name="">
            <a:extLst xmlns:a="http://schemas.openxmlformats.org/drawingml/2006/main">
              <a:ext uri="{FF2B5EF4-FFF2-40B4-BE49-F238E27FC236}">
                <a16:creationId xmlns:a16="http://schemas.microsoft.com/office/drawing/2014/main" id="{1BF8A7AE-E314-4880-A997-0A002CC0C91D}"/>
              </a:ext>
            </a:extLst>
          </p:cNvPr>
          <p:cNvSpPr>
            <a:spLocks xmlns:a="http://schemas.openxmlformats.org/drawingml/2006/main" noGrp="1"/>
          </p:cNvSpPr>
          <p:nvPr/>
        </p:nvSpPr>
        <p:spPr>
          <a:xfrm xmlns:a="http://schemas.openxmlformats.org/drawingml/2006/main">
            <a:off x="685800" y="13430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354359"/>
                </a:solidFill>
                <a:latin typeface="Times New Roman"/>
                <a:ea typeface="Times New Roman"/>
                <a:cs typeface="Times New Roman"/>
              </a:defRPr>
            </a:defPPr>
          </a:lstStyle>
          <a:p xmlns:a="http://schemas.openxmlformats.org/drawingml/2006/main">
            <a:pPr>
              <a:defRPr sz="2175" b="0">
                <a:solidFill>
                  <a:srgbClr val="354359"/>
                </a:solidFill>
                <a:latin typeface="Times New Roman"/>
                <a:ea typeface="Times New Roman"/>
                <a:cs typeface="Times New Roman"/>
              </a:defRPr>
            </a:pPr>
            <a:r>
              <a:rPr sz="2175" b="0">
                <a:solidFill>
                  <a:srgbClr val="354359"/>
                </a:solidFill>
                <a:latin typeface="Times New Roman"/>
                <a:ea typeface="Times New Roman"/>
                <a:cs typeface="Times New Roman"/>
              </a:rPr>
              <a:t>MNIST, fixed MLP architecture, batch size 64</a:t>
            </a:r>
          </a:p>
        </p:txBody>
      </p:sp>
      <p:graphicFrame>
        <p:nvGraphicFramePr>
          <p:cNvPr id="4" name="Chart">
            <a:extLst xmlns:a="http://schemas.openxmlformats.org/drawingml/2006/main">
              <a:ext uri="{FF2B5EF4-FFF2-40B4-BE49-F238E27FC236}">
                <a16:creationId xmlns:a16="http://schemas.microsoft.com/office/drawing/2014/main" id="{7D13C5BE-B892-404F-B577-DDADB17B4DAE}"/>
              </a:ext>
            </a:extLst>
          </p:cNvPr>
          <p:cNvGraphicFramePr/>
          <p:nvPr/>
        </p:nvGraphicFramePr>
        <p:xfrm>
          <a:off xmlns:a="http://schemas.openxmlformats.org/drawingml/2006/main" x="571500" y="2219325"/>
          <a:ext xmlns:a="http://schemas.openxmlformats.org/drawingml/2006/main" cx="6096000" cy="3190875"/>
        </p:xfrm>
        <a:graphic xmlns:a="http://schemas.openxmlformats.org/drawingml/2006/main">
          <a:graphicData uri="http://schemas.openxmlformats.org/drawingml/2006/chart">
            <c:chart xmlns:r="http://schemas.openxmlformats.org/officeDocument/2006/relationships" xmlns:c="http://schemas.openxmlformats.org/drawingml/2006/chart" r:id="R39c13cfa52c6443a"/>
          </a:graphicData>
        </a:graphic>
      </p:graphicFrame>
      <p:sp>
        <p:nvSpPr>
          <p:cNvPr id="5" name="">
            <a:extLst xmlns:a="http://schemas.openxmlformats.org/drawingml/2006/main">
              <a:ext uri="{FF2B5EF4-FFF2-40B4-BE49-F238E27FC236}">
                <a16:creationId xmlns:a16="http://schemas.microsoft.com/office/drawing/2014/main" id="{E8DF24D2-6D8C-4C86-ABE2-2D262DC586D7}"/>
              </a:ext>
            </a:extLst>
          </p:cNvPr>
          <p:cNvSpPr>
            <a:spLocks xmlns:a="http://schemas.openxmlformats.org/drawingml/2006/main" noGrp="1"/>
          </p:cNvSpPr>
          <p:nvPr/>
        </p:nvSpPr>
        <p:spPr>
          <a:xfrm xmlns:a="http://schemas.openxmlformats.org/drawingml/2006/main">
            <a:off x="685800" y="1828800"/>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9687B"/>
                </a:solidFill>
                <a:latin typeface="Times New Roman"/>
                <a:ea typeface="Times New Roman"/>
                <a:cs typeface="Times New Roman"/>
              </a:defRPr>
            </a:defPPr>
          </a:lstStyle>
          <a:p xmlns:a="http://schemas.openxmlformats.org/drawingml/2006/main">
            <a:pPr>
              <a:defRPr sz="1950" b="0">
                <a:solidFill>
                  <a:srgbClr val="59687B"/>
                </a:solidFill>
                <a:latin typeface="Times New Roman"/>
                <a:ea typeface="Times New Roman"/>
                <a:cs typeface="Times New Roman"/>
              </a:defRPr>
            </a:pPr>
            <a:r>
              <a:rPr sz="1950" b="0">
                <a:solidFill>
                  <a:srgbClr val="59687B"/>
                </a:solidFill>
                <a:latin typeface="Times New Roman"/>
                <a:ea typeface="Times New Roman"/>
                <a:cs typeface="Times New Roman"/>
              </a:rPr>
              <a:t>Reported time (seconds)</a:t>
            </a:r>
          </a:p>
        </p:txBody>
      </p:sp>
      <p:graphicFrame>
        <p:nvGraphicFramePr>
          <p:cNvPr id="6" name="">
            <a:extLst xmlns:a="http://schemas.openxmlformats.org/drawingml/2006/main">
              <a:ext uri="{FF2B5EF4-FFF2-40B4-BE49-F238E27FC236}">
                <a16:creationId xmlns:a16="http://schemas.microsoft.com/office/drawing/2014/main" id="{D7C8A1DA-3B4F-47DE-80EB-8BD7F7B3CCA5}"/>
              </a:ext>
            </a:extLst>
          </p:cNvPr>
          <p:cNvGraphicFramePr/>
          <p:nvPr/>
        </p:nvGraphicFramePr>
        <p:xfrm>
          <a:off xmlns:a="http://schemas.openxmlformats.org/drawingml/2006/main" x="7048500" y="2305050"/>
          <a:ext xmlns:a="http://schemas.openxmlformats.org/drawingml/2006/main" cx="4457700" cy="2000250"/>
        </p:xfrm>
        <a:graphic xmlns:a="http://schemas.openxmlformats.org/drawingml/2006/main">
          <a:graphicData uri="http://schemas.openxmlformats.org/drawingml/2006/table">
            <a:tbl>
              <a:tblPr firstRow="1" bandRow="0"/>
              <a:tblGrid>
                <a:gridCol w="1885950"/>
                <a:gridCol w="1285875"/>
                <a:gridCol w="1285875"/>
              </a:tblGrid>
              <a:tr h="666750">
                <a:tc>
                  <a:txBody>
                    <a:bodyPr/>
                    <a:lstStyle/>
                    <a:p>
                      <a:r>
                        <a:rPr sz="1800" b="1">
                          <a:solidFill>
                            <a:srgbClr val="354359"/>
                          </a:solidFill>
                          <a:latin typeface="Times New Roman"/>
                          <a:ea typeface="Times New Roman"/>
                          <a:cs typeface="Times New Roman"/>
                        </a:rPr>
                        <a:t>Test accuracy</a:t>
                      </a:r>
                    </a:p>
                  </a:txBody>
                  <a:tcPr marL="133350" marR="133350" marT="114300" marB="114300" anchor="ctr">
                    <a:lnL w="9525">
                      <a:solidFill>
                        <a:srgbClr val="DCE4EB"/>
                      </a:solidFill>
                      <a:prstDash val="solid"/>
                    </a:lnL>
                    <a:lnR w="9525">
                      <a:solidFill>
                        <a:srgbClr val="DCE4EB"/>
                      </a:solidFill>
                      <a:prstDash val="solid"/>
                    </a:lnR>
                    <a:lnT w="9525">
                      <a:solidFill>
                        <a:srgbClr val="DCE4EB"/>
                      </a:solidFill>
                      <a:prstDash val="solid"/>
                    </a:lnT>
                    <a:lnB w="9525">
                      <a:solidFill>
                        <a:srgbClr val="DCE4EB"/>
                      </a:solidFill>
                      <a:prstDash val="solid"/>
                    </a:lnB>
                    <a:solidFill>
                      <a:srgbClr val="EEF3F8"/>
                    </a:solidFill>
                  </a:tcPr>
                </a:tc>
                <a:tc>
                  <a:txBody>
                    <a:bodyPr/>
                    <a:lstStyle/>
                    <a:p>
                      <a:r>
                        <a:rPr sz="1800" b="1">
                          <a:solidFill>
                            <a:srgbClr val="354359"/>
                          </a:solidFill>
                          <a:latin typeface="Times New Roman"/>
                          <a:ea typeface="Times New Roman"/>
                          <a:cs typeface="Times New Roman"/>
                        </a:rPr>
                        <a:t>Baseline</a:t>
                      </a:r>
                    </a:p>
                  </a:txBody>
                  <a:tcPr marL="133350" marR="133350" marT="114300" marB="114300" anchor="ctr">
                    <a:lnR w="9525">
                      <a:solidFill>
                        <a:srgbClr val="DCE4EB"/>
                      </a:solidFill>
                      <a:prstDash val="solid"/>
                    </a:lnR>
                    <a:lnT w="9525">
                      <a:solidFill>
                        <a:srgbClr val="DCE4EB"/>
                      </a:solidFill>
                      <a:prstDash val="solid"/>
                    </a:lnT>
                    <a:lnB w="9525">
                      <a:solidFill>
                        <a:srgbClr val="DCE4EB"/>
                      </a:solidFill>
                      <a:prstDash val="solid"/>
                    </a:lnB>
                    <a:solidFill>
                      <a:srgbClr val="EEF3F8"/>
                    </a:solidFill>
                  </a:tcPr>
                </a:tc>
                <a:tc>
                  <a:txBody>
                    <a:bodyPr/>
                    <a:lstStyle/>
                    <a:p>
                      <a:r>
                        <a:rPr sz="1800" b="1">
                          <a:solidFill>
                            <a:srgbClr val="354359"/>
                          </a:solidFill>
                          <a:latin typeface="Times New Roman"/>
                          <a:ea typeface="Times New Roman"/>
                          <a:cs typeface="Times New Roman"/>
                        </a:rPr>
                        <a:t>ABS</a:t>
                      </a:r>
                    </a:p>
                  </a:txBody>
                  <a:tcPr marL="133350" marR="133350" marT="114300" marB="114300" anchor="ctr">
                    <a:lnR w="9525">
                      <a:solidFill>
                        <a:srgbClr val="DCE4EB"/>
                      </a:solidFill>
                      <a:prstDash val="solid"/>
                    </a:lnR>
                    <a:lnT w="9525">
                      <a:solidFill>
                        <a:srgbClr val="DCE4EB"/>
                      </a:solidFill>
                      <a:prstDash val="solid"/>
                    </a:lnT>
                    <a:lnB w="9525">
                      <a:solidFill>
                        <a:srgbClr val="DCE4EB"/>
                      </a:solidFill>
                      <a:prstDash val="solid"/>
                    </a:lnB>
                    <a:solidFill>
                      <a:srgbClr val="EEF3F8"/>
                    </a:solidFill>
                  </a:tcPr>
                </a:tc>
              </a:tr>
              <a:tr h="666750">
                <a:tc>
                  <a:txBody>
                    <a:bodyPr/>
                    <a:lstStyle/>
                    <a:p>
                      <a:r>
                        <a:rPr sz="1800" b="0">
                          <a:solidFill>
                            <a:srgbClr val="354359"/>
                          </a:solidFill>
                          <a:latin typeface="Times New Roman"/>
                          <a:ea typeface="Times New Roman"/>
                          <a:cs typeface="Times New Roman"/>
                        </a:rPr>
                        <a:t>RMSProp</a:t>
                      </a:r>
                    </a:p>
                  </a:txBody>
                  <a:tcPr marL="133350" marR="133350" marT="114300" marB="114300" anchor="ctr">
                    <a:lnL w="9525">
                      <a:solidFill>
                        <a:srgbClr val="DCE4EB"/>
                      </a:solidFill>
                      <a:prstDash val="solid"/>
                    </a:lnL>
                    <a:lnR w="9525">
                      <a:solidFill>
                        <a:srgbClr val="DCE4EB"/>
                      </a:solidFill>
                      <a:prstDash val="solid"/>
                    </a:lnR>
                    <a:lnB w="9525">
                      <a:solidFill>
                        <a:srgbClr val="DCE4EB"/>
                      </a:solidFill>
                      <a:prstDash val="solid"/>
                    </a:lnB>
                    <a:solidFill>
                      <a:srgbClr val="FFFFFF"/>
                    </a:solidFill>
                  </a:tcPr>
                </a:tc>
                <a:tc>
                  <a:txBody>
                    <a:bodyPr/>
                    <a:lstStyle/>
                    <a:p>
                      <a:r>
                        <a:rPr sz="1800" b="0">
                          <a:solidFill>
                            <a:srgbClr val="354359"/>
                          </a:solidFill>
                          <a:latin typeface="Times New Roman"/>
                          <a:ea typeface="Times New Roman"/>
                          <a:cs typeface="Times New Roman"/>
                        </a:rPr>
                        <a:t>98.54%</a:t>
                      </a:r>
                    </a:p>
                  </a:txBody>
                  <a:tcPr marL="133350" marR="133350" marT="114300" marB="114300" anchor="ctr">
                    <a:lnR w="9525">
                      <a:solidFill>
                        <a:srgbClr val="DCE4EB"/>
                      </a:solidFill>
                      <a:prstDash val="solid"/>
                    </a:lnR>
                    <a:lnB w="9525">
                      <a:solidFill>
                        <a:srgbClr val="DCE4EB"/>
                      </a:solidFill>
                      <a:prstDash val="solid"/>
                    </a:lnB>
                    <a:solidFill>
                      <a:srgbClr val="FFFFFF"/>
                    </a:solidFill>
                  </a:tcPr>
                </a:tc>
                <a:tc>
                  <a:txBody>
                    <a:bodyPr/>
                    <a:lstStyle/>
                    <a:p>
                      <a:r>
                        <a:rPr sz="1800" b="0">
                          <a:solidFill>
                            <a:srgbClr val="354359"/>
                          </a:solidFill>
                          <a:latin typeface="Times New Roman"/>
                          <a:ea typeface="Times New Roman"/>
                          <a:cs typeface="Times New Roman"/>
                        </a:rPr>
                        <a:t>97.86%</a:t>
                      </a:r>
                    </a:p>
                  </a:txBody>
                  <a:tcPr marL="133350" marR="133350" marT="114300" marB="114300" anchor="ctr">
                    <a:lnR w="9525">
                      <a:solidFill>
                        <a:srgbClr val="DCE4EB"/>
                      </a:solidFill>
                      <a:prstDash val="solid"/>
                    </a:lnR>
                    <a:lnB w="9525">
                      <a:solidFill>
                        <a:srgbClr val="DCE4EB"/>
                      </a:solidFill>
                      <a:prstDash val="solid"/>
                    </a:lnB>
                    <a:solidFill>
                      <a:srgbClr val="FFFFFF"/>
                    </a:solidFill>
                  </a:tcPr>
                </a:tc>
              </a:tr>
              <a:tr h="666750">
                <a:tc>
                  <a:txBody>
                    <a:bodyPr/>
                    <a:lstStyle/>
                    <a:p>
                      <a:r>
                        <a:rPr sz="1800" b="0">
                          <a:solidFill>
                            <a:srgbClr val="354359"/>
                          </a:solidFill>
                          <a:latin typeface="Times New Roman"/>
                          <a:ea typeface="Times New Roman"/>
                          <a:cs typeface="Times New Roman"/>
                        </a:rPr>
                        <a:t>Adam</a:t>
                      </a:r>
                    </a:p>
                  </a:txBody>
                  <a:tcPr marL="133350" marR="133350" marT="114300" marB="114300" anchor="ctr">
                    <a:lnL w="9525">
                      <a:solidFill>
                        <a:srgbClr val="DCE4EB"/>
                      </a:solidFill>
                      <a:prstDash val="solid"/>
                    </a:lnL>
                    <a:lnR w="9525">
                      <a:solidFill>
                        <a:srgbClr val="DCE4EB"/>
                      </a:solidFill>
                      <a:prstDash val="solid"/>
                    </a:lnR>
                    <a:lnB w="9525">
                      <a:solidFill>
                        <a:srgbClr val="DCE4EB"/>
                      </a:solidFill>
                      <a:prstDash val="solid"/>
                    </a:lnB>
                    <a:solidFill>
                      <a:srgbClr val="FFFFFF"/>
                    </a:solidFill>
                  </a:tcPr>
                </a:tc>
                <a:tc>
                  <a:txBody>
                    <a:bodyPr/>
                    <a:lstStyle/>
                    <a:p>
                      <a:r>
                        <a:rPr sz="1800" b="0">
                          <a:solidFill>
                            <a:srgbClr val="354359"/>
                          </a:solidFill>
                          <a:latin typeface="Times New Roman"/>
                          <a:ea typeface="Times New Roman"/>
                          <a:cs typeface="Times New Roman"/>
                        </a:rPr>
                        <a:t>98.64%</a:t>
                      </a:r>
                    </a:p>
                  </a:txBody>
                  <a:tcPr marL="133350" marR="133350" marT="114300" marB="114300" anchor="ctr">
                    <a:lnR w="9525">
                      <a:solidFill>
                        <a:srgbClr val="DCE4EB"/>
                      </a:solidFill>
                      <a:prstDash val="solid"/>
                    </a:lnR>
                    <a:lnB w="9525">
                      <a:solidFill>
                        <a:srgbClr val="DCE4EB"/>
                      </a:solidFill>
                      <a:prstDash val="solid"/>
                    </a:lnB>
                    <a:solidFill>
                      <a:srgbClr val="FFFFFF"/>
                    </a:solidFill>
                  </a:tcPr>
                </a:tc>
                <a:tc>
                  <a:txBody>
                    <a:bodyPr/>
                    <a:lstStyle/>
                    <a:p>
                      <a:r>
                        <a:rPr sz="1800" b="0">
                          <a:solidFill>
                            <a:srgbClr val="354359"/>
                          </a:solidFill>
                          <a:latin typeface="Times New Roman"/>
                          <a:ea typeface="Times New Roman"/>
                          <a:cs typeface="Times New Roman"/>
                        </a:rPr>
                        <a:t>97.86%</a:t>
                      </a:r>
                    </a:p>
                  </a:txBody>
                  <a:tcPr marL="133350" marR="133350" marT="114300" marB="114300" anchor="ctr">
                    <a:lnR w="9525">
                      <a:solidFill>
                        <a:srgbClr val="DCE4EB"/>
                      </a:solidFill>
                      <a:prstDash val="solid"/>
                    </a:lnR>
                    <a:lnB w="9525">
                      <a:solidFill>
                        <a:srgbClr val="DCE4EB"/>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54183ED-9788-422F-9B3C-B6BF883E2A6E}"/>
              </a:ext>
            </a:extLst>
          </p:cNvPr>
          <p:cNvSpPr>
            <a:spLocks xmlns:a="http://schemas.openxmlformats.org/drawingml/2006/main" noGrp="1"/>
          </p:cNvSpPr>
          <p:nvPr/>
        </p:nvSpPr>
        <p:spPr>
          <a:xfrm xmlns:a="http://schemas.openxmlformats.org/drawingml/2006/main">
            <a:off x="7048500" y="4619625"/>
            <a:ext cx="44577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35E91"/>
                </a:solidFill>
                <a:latin typeface="Times New Roman"/>
                <a:ea typeface="Times New Roman"/>
                <a:cs typeface="Times New Roman"/>
              </a:defRPr>
            </a:defPPr>
          </a:lstStyle>
          <a:p xmlns:a="http://schemas.openxmlformats.org/drawingml/2006/main">
            <a:pPr>
              <a:defRPr sz="2100" b="0">
                <a:solidFill>
                  <a:srgbClr val="235E91"/>
                </a:solidFill>
                <a:latin typeface="Times New Roman"/>
                <a:ea typeface="Times New Roman"/>
                <a:cs typeface="Times New Roman"/>
              </a:defRPr>
            </a:pPr>
            <a:r>
              <a:rPr sz="2100" b="0">
                <a:solidFill>
                  <a:srgbClr val="235E91"/>
                </a:solidFill>
                <a:latin typeface="Times New Roman"/>
                <a:ea typeface="Times New Roman"/>
                <a:cs typeface="Times New Roman"/>
              </a:rPr>
              <a:t>Time reduction</a:t>
            </a:r>
          </a:p>
          <a:p xmlns:a="http://schemas.openxmlformats.org/drawingml/2006/main">
            <a:pPr>
              <a:defRPr sz="2100" b="0">
                <a:solidFill>
                  <a:srgbClr val="235E91"/>
                </a:solidFill>
                <a:latin typeface="Times New Roman"/>
                <a:ea typeface="Times New Roman"/>
                <a:cs typeface="Times New Roman"/>
              </a:defRPr>
            </a:pPr>
            <a:r>
              <a:rPr sz="2100" b="0">
                <a:solidFill>
                  <a:srgbClr val="235E91"/>
                </a:solidFill>
                <a:latin typeface="Times New Roman"/>
                <a:ea typeface="Times New Roman"/>
                <a:cs typeface="Times New Roman"/>
              </a:rPr>
              <a:t>5.7% versus RMSProp</a:t>
            </a:r>
          </a:p>
          <a:p xmlns:a="http://schemas.openxmlformats.org/drawingml/2006/main">
            <a:pPr>
              <a:defRPr sz="2100" b="0">
                <a:solidFill>
                  <a:srgbClr val="235E91"/>
                </a:solidFill>
                <a:latin typeface="Times New Roman"/>
                <a:ea typeface="Times New Roman"/>
                <a:cs typeface="Times New Roman"/>
              </a:defRPr>
            </a:pPr>
            <a:r>
              <a:rPr sz="2100" b="0">
                <a:solidFill>
                  <a:srgbClr val="235E91"/>
                </a:solidFill>
                <a:latin typeface="Times New Roman"/>
                <a:ea typeface="Times New Roman"/>
                <a:cs typeface="Times New Roman"/>
              </a:rPr>
              <a:t>3.7% versus Adam</a:t>
            </a:r>
          </a:p>
        </p:txBody>
      </p:sp>
      <p:sp>
        <p:nvSpPr>
          <p:cNvPr id="8" name="">
            <a:extLst xmlns:a="http://schemas.openxmlformats.org/drawingml/2006/main">
              <a:ext uri="{FF2B5EF4-FFF2-40B4-BE49-F238E27FC236}">
                <a16:creationId xmlns:a16="http://schemas.microsoft.com/office/drawing/2014/main" id="{2D13E88A-0BB8-4C73-8402-36E0BB419275}"/>
              </a:ext>
            </a:extLst>
          </p:cNvPr>
          <p:cNvSpPr>
            <a:spLocks xmlns:a="http://schemas.openxmlformats.org/drawingml/2006/main" noGrp="1"/>
          </p:cNvSpPr>
          <p:nvPr/>
        </p:nvSpPr>
        <p:spPr>
          <a:xfrm xmlns:a="http://schemas.openxmlformats.org/drawingml/2006/main">
            <a:off x="685800" y="57721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9687B"/>
                </a:solidFill>
                <a:latin typeface="Times New Roman"/>
                <a:ea typeface="Times New Roman"/>
                <a:cs typeface="Times New Roman"/>
              </a:defRPr>
            </a:defPPr>
          </a:lstStyle>
          <a:p xmlns:a="http://schemas.openxmlformats.org/drawingml/2006/main">
            <a:pPr>
              <a:defRPr sz="1800" b="0">
                <a:solidFill>
                  <a:srgbClr val="59687B"/>
                </a:solidFill>
                <a:latin typeface="Times New Roman"/>
                <a:ea typeface="Times New Roman"/>
                <a:cs typeface="Times New Roman"/>
              </a:defRPr>
            </a:pPr>
            <a:r>
              <a:rPr sz="1800" b="0">
                <a:solidFill>
                  <a:srgbClr val="59687B"/>
                </a:solidFill>
                <a:latin typeface="Times New Roman"/>
                <a:ea typeface="Times New Roman"/>
                <a:cs typeface="Times New Roman"/>
              </a:rPr>
              <a:t>Accuracy decreased by 0.68 and 0.78 percentage points.</a:t>
            </a:r>
          </a:p>
          <a:p xmlns:a="http://schemas.openxmlformats.org/drawingml/2006/main">
            <a:pPr>
              <a:defRPr sz="1800" b="0">
                <a:solidFill>
                  <a:srgbClr val="59687B"/>
                </a:solidFill>
                <a:latin typeface="Times New Roman"/>
                <a:ea typeface="Times New Roman"/>
                <a:cs typeface="Times New Roman"/>
              </a:defRPr>
            </a:pPr>
            <a:r>
              <a:rPr sz="1800" b="0">
                <a:solidFill>
                  <a:srgbClr val="59687B"/>
                </a:solidFill>
                <a:latin typeface="Times New Roman"/>
                <a:ea typeface="Times New Roman"/>
                <a:cs typeface="Times New Roman"/>
              </a:rPr>
              <a:t>Evidence is limited to this MNIST/MLP setting.</a:t>
            </a:r>
          </a:p>
        </p:txBody>
      </p:sp>
    </p:spTree>
    <p:extLst>
      <p:ext uri="{BB962C8B-B14F-4D97-AF65-F5344CB8AC3E}">
        <p14:creationId xmlns:p14="http://schemas.microsoft.com/office/powerpoint/2010/main" val="2233760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A60941-B96A-4FE5-A4B9-A679DB373676}"/>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0">
                <a:solidFill>
                  <a:srgbClr val="192B43"/>
                </a:solidFill>
                <a:latin typeface="Times New Roman"/>
                <a:ea typeface="Times New Roman"/>
                <a:cs typeface="Times New Roman"/>
              </a:defRPr>
            </a:defPPr>
          </a:lstStyle>
          <a:p xmlns:a="http://schemas.openxmlformats.org/drawingml/2006/main">
            <a:pPr>
              <a:defRPr sz="3450" b="0">
                <a:solidFill>
                  <a:srgbClr val="192B43"/>
                </a:solidFill>
                <a:latin typeface="Times New Roman"/>
                <a:ea typeface="Times New Roman"/>
                <a:cs typeface="Times New Roman"/>
              </a:defRPr>
            </a:pPr>
            <a:r>
              <a:rPr sz="3450" b="0">
                <a:solidFill>
                  <a:srgbClr val="192B43"/>
                </a:solidFill>
                <a:latin typeface="Times New Roman"/>
                <a:ea typeface="Times New Roman"/>
                <a:cs typeface="Times New Roman"/>
              </a:rPr>
              <a:t>Additional research contributions</a:t>
            </a:r>
          </a:p>
        </p:txBody>
      </p:sp>
      <p:sp>
        <p:nvSpPr>
          <p:cNvPr id="2" name="">
            <a:extLst xmlns:a="http://schemas.openxmlformats.org/drawingml/2006/main">
              <a:ext uri="{FF2B5EF4-FFF2-40B4-BE49-F238E27FC236}">
                <a16:creationId xmlns:a16="http://schemas.microsoft.com/office/drawing/2014/main" id="{DFBD31C9-03E0-4425-9CF0-B29CBB1E3F52}"/>
              </a:ext>
            </a:extLst>
          </p:cNvPr>
          <p:cNvSpPr>
            <a:spLocks xmlns:a="http://schemas.openxmlformats.org/drawingml/2006/main" noGrp="1"/>
          </p:cNvSpPr>
          <p:nvPr/>
        </p:nvSpPr>
        <p:spPr>
          <a:xfrm xmlns:a="http://schemas.openxmlformats.org/drawingml/2006/main">
            <a:off x="11049000" y="64198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9687B"/>
                </a:solidFill>
                <a:latin typeface="Times New Roman"/>
                <a:ea typeface="Times New Roman"/>
                <a:cs typeface="Times New Roman"/>
              </a:defRPr>
            </a:defPPr>
          </a:lstStyle>
          <a:p xmlns:a="http://schemas.openxmlformats.org/drawingml/2006/main">
            <a:pPr>
              <a:defRPr sz="1350" b="0">
                <a:solidFill>
                  <a:srgbClr val="59687B"/>
                </a:solidFill>
                <a:latin typeface="Times New Roman"/>
                <a:ea typeface="Times New Roman"/>
                <a:cs typeface="Times New Roman"/>
              </a:defRPr>
            </a:pPr>
            <a:r>
              <a:rPr sz="1350" b="0">
                <a:solidFill>
                  <a:srgbClr val="59687B"/>
                </a:solidFill>
                <a:latin typeface="Times New Roman"/>
                <a:ea typeface="Times New Roman"/>
                <a:cs typeface="Times New Roman"/>
              </a:rPr>
              <a:t>07</a:t>
            </a:r>
          </a:p>
        </p:txBody>
      </p:sp>
      <p:sp>
        <p:nvSpPr>
          <p:cNvPr id="3" name="">
            <a:extLst xmlns:a="http://schemas.openxmlformats.org/drawingml/2006/main">
              <a:ext uri="{FF2B5EF4-FFF2-40B4-BE49-F238E27FC236}">
                <a16:creationId xmlns:a16="http://schemas.microsoft.com/office/drawing/2014/main" id="{A689290F-C0FC-4795-A1D2-10E1A0DFE46E}"/>
              </a:ext>
            </a:extLst>
          </p:cNvPr>
          <p:cNvSpPr>
            <a:spLocks xmlns:a="http://schemas.openxmlformats.org/drawingml/2006/main" noGrp="1"/>
          </p:cNvSpPr>
          <p:nvPr/>
        </p:nvSpPr>
        <p:spPr>
          <a:xfrm xmlns:a="http://schemas.openxmlformats.org/drawingml/2006/main">
            <a:off x="685800" y="14763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2B43"/>
                </a:solidFill>
                <a:latin typeface="Times New Roman"/>
                <a:ea typeface="Times New Roman"/>
                <a:cs typeface="Times New Roman"/>
              </a:defRPr>
            </a:defPPr>
          </a:lstStyle>
          <a:p xmlns:a="http://schemas.openxmlformats.org/drawingml/2006/main">
            <a:pPr>
              <a:defRPr sz="2175" b="1">
                <a:solidFill>
                  <a:srgbClr val="192B43"/>
                </a:solidFill>
                <a:latin typeface="Times New Roman"/>
                <a:ea typeface="Times New Roman"/>
                <a:cs typeface="Times New Roman"/>
              </a:defRPr>
            </a:pPr>
            <a:r>
              <a:rPr sz="2175" b="1">
                <a:solidFill>
                  <a:srgbClr val="192B43"/>
                </a:solidFill>
                <a:latin typeface="Times New Roman"/>
                <a:ea typeface="Times New Roman"/>
                <a:cs typeface="Times New Roman"/>
              </a:rPr>
              <a:t>APPLE</a:t>
            </a:r>
          </a:p>
        </p:txBody>
      </p:sp>
      <p:sp>
        <p:nvSpPr>
          <p:cNvPr id="4" name="">
            <a:extLst xmlns:a="http://schemas.openxmlformats.org/drawingml/2006/main">
              <a:ext uri="{FF2B5EF4-FFF2-40B4-BE49-F238E27FC236}">
                <a16:creationId xmlns:a16="http://schemas.microsoft.com/office/drawing/2014/main" id="{FD82A376-395B-4928-B08D-FD570D915F71}"/>
              </a:ext>
            </a:extLst>
          </p:cNvPr>
          <p:cNvSpPr>
            <a:spLocks xmlns:a="http://schemas.openxmlformats.org/drawingml/2006/main" noGrp="1"/>
          </p:cNvSpPr>
          <p:nvPr/>
        </p:nvSpPr>
        <p:spPr>
          <a:xfrm xmlns:a="http://schemas.openxmlformats.org/drawingml/2006/main">
            <a:off x="685800" y="19240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354359"/>
                </a:solidFill>
                <a:latin typeface="Times New Roman"/>
                <a:ea typeface="Times New Roman"/>
                <a:cs typeface="Times New Roman"/>
              </a:defRPr>
            </a:defPPr>
          </a:lstStyle>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Contributed to manuscript writing and language-model benchmarking</a:t>
            </a:r>
          </a:p>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on Pythia-based models with the proposed low-rank residual path.</a:t>
            </a:r>
          </a:p>
        </p:txBody>
      </p:sp>
      <p:sp>
        <p:nvSpPr>
          <p:cNvPr id="5" name="">
            <a:extLst xmlns:a="http://schemas.openxmlformats.org/drawingml/2006/main">
              <a:ext uri="{FF2B5EF4-FFF2-40B4-BE49-F238E27FC236}">
                <a16:creationId xmlns:a16="http://schemas.microsoft.com/office/drawing/2014/main" id="{94DEC46D-1D72-497A-98CC-C2AB8293A79A}"/>
              </a:ext>
            </a:extLst>
          </p:cNvPr>
          <p:cNvSpPr>
            <a:spLocks xmlns:a="http://schemas.openxmlformats.org/drawingml/2006/main" noGrp="1"/>
          </p:cNvSpPr>
          <p:nvPr/>
        </p:nvSpPr>
        <p:spPr>
          <a:xfrm xmlns:a="http://schemas.openxmlformats.org/drawingml/2006/main">
            <a:off x="685800" y="2714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9687B"/>
                </a:solidFill>
                <a:latin typeface="Times New Roman"/>
                <a:ea typeface="Times New Roman"/>
                <a:cs typeface="Times New Roman"/>
              </a:defRPr>
            </a:defPPr>
          </a:lstStyle>
          <a:p xmlns:a="http://schemas.openxmlformats.org/drawingml/2006/main">
            <a:pPr>
              <a:defRPr sz="1800" b="0">
                <a:solidFill>
                  <a:srgbClr val="59687B"/>
                </a:solidFill>
                <a:latin typeface="Times New Roman"/>
                <a:ea typeface="Times New Roman"/>
                <a:cs typeface="Times New Roman"/>
              </a:defRPr>
            </a:pPr>
            <a:r>
              <a:rPr sz="1800" b="0">
                <a:solidFill>
                  <a:srgbClr val="59687B"/>
                </a:solidFill>
                <a:latin typeface="Times New Roman"/>
                <a:ea typeface="Times New Roman"/>
                <a:cs typeface="Times New Roman"/>
              </a:rPr>
              <a:t>Second author. Submitted to ICLR 2027.</a:t>
            </a:r>
          </a:p>
        </p:txBody>
      </p:sp>
      <p:sp>
        <p:nvSpPr>
          <p:cNvPr id="6" name="">
            <a:extLst xmlns:a="http://schemas.openxmlformats.org/drawingml/2006/main">
              <a:ext uri="{FF2B5EF4-FFF2-40B4-BE49-F238E27FC236}">
                <a16:creationId xmlns:a16="http://schemas.microsoft.com/office/drawing/2014/main" id="{A7A4FFF5-03CE-4F67-B2C9-490B566BB136}"/>
              </a:ext>
            </a:extLst>
          </p:cNvPr>
          <p:cNvSpPr>
            <a:spLocks xmlns:a="http://schemas.openxmlformats.org/drawingml/2006/main" noGrp="1"/>
          </p:cNvSpPr>
          <p:nvPr/>
        </p:nvSpPr>
        <p:spPr>
          <a:xfrm xmlns:a="http://schemas.openxmlformats.org/drawingml/2006/main">
            <a:off x="685800" y="33718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2B43"/>
                </a:solidFill>
                <a:latin typeface="Times New Roman"/>
                <a:ea typeface="Times New Roman"/>
                <a:cs typeface="Times New Roman"/>
              </a:defRPr>
            </a:defPPr>
          </a:lstStyle>
          <a:p xmlns:a="http://schemas.openxmlformats.org/drawingml/2006/main">
            <a:pPr>
              <a:defRPr sz="2175" b="1">
                <a:solidFill>
                  <a:srgbClr val="192B43"/>
                </a:solidFill>
                <a:latin typeface="Times New Roman"/>
                <a:ea typeface="Times New Roman"/>
                <a:cs typeface="Times New Roman"/>
              </a:defRPr>
            </a:pPr>
            <a:r>
              <a:rPr sz="2175" b="1">
                <a:solidFill>
                  <a:srgbClr val="192B43"/>
                </a:solidFill>
                <a:latin typeface="Times New Roman"/>
                <a:ea typeface="Times New Roman"/>
                <a:cs typeface="Times New Roman"/>
              </a:rPr>
              <a:t>AI trustworthiness for aviation MRO</a:t>
            </a:r>
          </a:p>
        </p:txBody>
      </p:sp>
      <p:sp>
        <p:nvSpPr>
          <p:cNvPr id="7" name="">
            <a:extLst xmlns:a="http://schemas.openxmlformats.org/drawingml/2006/main">
              <a:ext uri="{FF2B5EF4-FFF2-40B4-BE49-F238E27FC236}">
                <a16:creationId xmlns:a16="http://schemas.microsoft.com/office/drawing/2014/main" id="{A872E22C-894C-48EA-BDA5-66566339574F}"/>
              </a:ext>
            </a:extLst>
          </p:cNvPr>
          <p:cNvSpPr>
            <a:spLocks xmlns:a="http://schemas.openxmlformats.org/drawingml/2006/main" noGrp="1"/>
          </p:cNvSpPr>
          <p:nvPr/>
        </p:nvSpPr>
        <p:spPr>
          <a:xfrm xmlns:a="http://schemas.openxmlformats.org/drawingml/2006/main">
            <a:off x="685800" y="3819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354359"/>
                </a:solidFill>
                <a:latin typeface="Times New Roman"/>
                <a:ea typeface="Times New Roman"/>
                <a:cs typeface="Times New Roman"/>
              </a:defRPr>
            </a:defPPr>
          </a:lstStyle>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Reviewed EASA documents and research papers, then organized</a:t>
            </a:r>
          </a:p>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and shared summaries with the research team.</a:t>
            </a:r>
          </a:p>
        </p:txBody>
      </p:sp>
      <p:sp>
        <p:nvSpPr>
          <p:cNvPr id="8" name="">
            <a:extLst xmlns:a="http://schemas.openxmlformats.org/drawingml/2006/main">
              <a:ext uri="{FF2B5EF4-FFF2-40B4-BE49-F238E27FC236}">
                <a16:creationId xmlns:a16="http://schemas.microsoft.com/office/drawing/2014/main" id="{8DE9F3EF-592A-4423-B6C7-470D4722BCD5}"/>
              </a:ext>
            </a:extLst>
          </p:cNvPr>
          <p:cNvSpPr>
            <a:spLocks xmlns:a="http://schemas.openxmlformats.org/drawingml/2006/main" noGrp="1"/>
          </p:cNvSpPr>
          <p:nvPr/>
        </p:nvSpPr>
        <p:spPr>
          <a:xfrm xmlns:a="http://schemas.openxmlformats.org/drawingml/2006/main">
            <a:off x="685800" y="50482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2B43"/>
                </a:solidFill>
                <a:latin typeface="Times New Roman"/>
                <a:ea typeface="Times New Roman"/>
                <a:cs typeface="Times New Roman"/>
              </a:defRPr>
            </a:defPPr>
          </a:lstStyle>
          <a:p xmlns:a="http://schemas.openxmlformats.org/drawingml/2006/main">
            <a:pPr>
              <a:defRPr sz="2175" b="1">
                <a:solidFill>
                  <a:srgbClr val="192B43"/>
                </a:solidFill>
                <a:latin typeface="Times New Roman"/>
                <a:ea typeface="Times New Roman"/>
                <a:cs typeface="Times New Roman"/>
              </a:defRPr>
            </a:pPr>
            <a:r>
              <a:rPr sz="2175" b="1">
                <a:solidFill>
                  <a:srgbClr val="192B43"/>
                </a:solidFill>
                <a:latin typeface="Times New Roman"/>
                <a:ea typeface="Times New Roman"/>
                <a:cs typeface="Times New Roman"/>
              </a:rPr>
              <a:t>AI-generated Korean text detection</a:t>
            </a:r>
          </a:p>
        </p:txBody>
      </p:sp>
      <p:sp>
        <p:nvSpPr>
          <p:cNvPr id="9" name="">
            <a:extLst xmlns:a="http://schemas.openxmlformats.org/drawingml/2006/main">
              <a:ext uri="{FF2B5EF4-FFF2-40B4-BE49-F238E27FC236}">
                <a16:creationId xmlns:a16="http://schemas.microsoft.com/office/drawing/2014/main" id="{090C4E02-C5B1-462C-A3AB-011070A98DC1}"/>
              </a:ext>
            </a:extLst>
          </p:cNvPr>
          <p:cNvSpPr>
            <a:spLocks xmlns:a="http://schemas.openxmlformats.org/drawingml/2006/main" noGrp="1"/>
          </p:cNvSpPr>
          <p:nvPr/>
        </p:nvSpPr>
        <p:spPr>
          <a:xfrm xmlns:a="http://schemas.openxmlformats.org/drawingml/2006/main">
            <a:off x="685800" y="54959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354359"/>
                </a:solidFill>
                <a:latin typeface="Times New Roman"/>
                <a:ea typeface="Times New Roman"/>
                <a:cs typeface="Times New Roman"/>
              </a:defRPr>
            </a:defPPr>
          </a:lstStyle>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Fine-tuned KoBERT and explored an ensemble using BERT embeddings</a:t>
            </a:r>
          </a:p>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and stylometric features.</a:t>
            </a:r>
          </a:p>
        </p:txBody>
      </p:sp>
    </p:spTree>
    <p:extLst>
      <p:ext uri="{BB962C8B-B14F-4D97-AF65-F5344CB8AC3E}">
        <p14:creationId xmlns:p14="http://schemas.microsoft.com/office/powerpoint/2010/main" val="19535158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9DD67B-6D3A-49C3-9689-59E72F49C55D}"/>
              </a:ext>
            </a:extLst>
          </p:cNvPr>
          <p:cNvSpPr>
            <a:spLocks xmlns:a="http://schemas.openxmlformats.org/drawingml/2006/main" noGrp="1"/>
          </p:cNvSpPr>
          <p:nvPr/>
        </p:nvSpPr>
        <p:spPr>
          <a:xfrm xmlns:a="http://schemas.openxmlformats.org/drawingml/2006/main">
            <a:off x="685800" y="495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0">
                <a:solidFill>
                  <a:srgbClr val="192B43"/>
                </a:solidFill>
                <a:latin typeface="Times New Roman"/>
                <a:ea typeface="Times New Roman"/>
                <a:cs typeface="Times New Roman"/>
              </a:defRPr>
            </a:defPPr>
          </a:lstStyle>
          <a:p xmlns:a="http://schemas.openxmlformats.org/drawingml/2006/main">
            <a:pPr>
              <a:defRPr sz="3450" b="0">
                <a:solidFill>
                  <a:srgbClr val="192B43"/>
                </a:solidFill>
                <a:latin typeface="Times New Roman"/>
                <a:ea typeface="Times New Roman"/>
                <a:cs typeface="Times New Roman"/>
              </a:defRPr>
            </a:pPr>
            <a:r>
              <a:rPr sz="3450" b="0">
                <a:solidFill>
                  <a:srgbClr val="192B43"/>
                </a:solidFill>
                <a:latin typeface="Times New Roman"/>
                <a:ea typeface="Times New Roman"/>
                <a:cs typeface="Times New Roman"/>
              </a:rPr>
              <a:t>Research directions</a:t>
            </a:r>
          </a:p>
        </p:txBody>
      </p:sp>
      <p:sp>
        <p:nvSpPr>
          <p:cNvPr id="2" name="">
            <a:extLst xmlns:a="http://schemas.openxmlformats.org/drawingml/2006/main">
              <a:ext uri="{FF2B5EF4-FFF2-40B4-BE49-F238E27FC236}">
                <a16:creationId xmlns:a16="http://schemas.microsoft.com/office/drawing/2014/main" id="{7D5D8E59-BCF1-4BD2-B1A8-D448CA2EAFE8}"/>
              </a:ext>
            </a:extLst>
          </p:cNvPr>
          <p:cNvSpPr>
            <a:spLocks xmlns:a="http://schemas.openxmlformats.org/drawingml/2006/main" noGrp="1"/>
          </p:cNvSpPr>
          <p:nvPr/>
        </p:nvSpPr>
        <p:spPr>
          <a:xfrm xmlns:a="http://schemas.openxmlformats.org/drawingml/2006/main">
            <a:off x="11049000" y="64198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9687B"/>
                </a:solidFill>
                <a:latin typeface="Times New Roman"/>
                <a:ea typeface="Times New Roman"/>
                <a:cs typeface="Times New Roman"/>
              </a:defRPr>
            </a:defPPr>
          </a:lstStyle>
          <a:p xmlns:a="http://schemas.openxmlformats.org/drawingml/2006/main">
            <a:pPr>
              <a:defRPr sz="1350" b="0">
                <a:solidFill>
                  <a:srgbClr val="59687B"/>
                </a:solidFill>
                <a:latin typeface="Times New Roman"/>
                <a:ea typeface="Times New Roman"/>
                <a:cs typeface="Times New Roman"/>
              </a:defRPr>
            </a:pPr>
            <a:r>
              <a:rPr sz="1350" b="0">
                <a:solidFill>
                  <a:srgbClr val="59687B"/>
                </a:solidFill>
                <a:latin typeface="Times New Roman"/>
                <a:ea typeface="Times New Roman"/>
                <a:cs typeface="Times New Roman"/>
              </a:rPr>
              <a:t>08</a:t>
            </a:r>
          </a:p>
        </p:txBody>
      </p:sp>
      <p:sp>
        <p:nvSpPr>
          <p:cNvPr id="3" name="">
            <a:extLst xmlns:a="http://schemas.openxmlformats.org/drawingml/2006/main">
              <a:ext uri="{FF2B5EF4-FFF2-40B4-BE49-F238E27FC236}">
                <a16:creationId xmlns:a16="http://schemas.microsoft.com/office/drawing/2014/main" id="{CB1F46C3-062C-4C0F-8473-454360FD5F75}"/>
              </a:ext>
            </a:extLst>
          </p:cNvPr>
          <p:cNvSpPr>
            <a:spLocks xmlns:a="http://schemas.openxmlformats.org/drawingml/2006/main" noGrp="1"/>
          </p:cNvSpPr>
          <p:nvPr/>
        </p:nvSpPr>
        <p:spPr>
          <a:xfrm xmlns:a="http://schemas.openxmlformats.org/drawingml/2006/main">
            <a:off x="685800" y="14573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2B43"/>
                </a:solidFill>
                <a:latin typeface="Times New Roman"/>
                <a:ea typeface="Times New Roman"/>
                <a:cs typeface="Times New Roman"/>
              </a:defRPr>
            </a:defPPr>
          </a:lstStyle>
          <a:p xmlns:a="http://schemas.openxmlformats.org/drawingml/2006/main">
            <a:pPr>
              <a:defRPr sz="2175" b="1">
                <a:solidFill>
                  <a:srgbClr val="192B43"/>
                </a:solidFill>
                <a:latin typeface="Times New Roman"/>
                <a:ea typeface="Times New Roman"/>
                <a:cs typeface="Times New Roman"/>
              </a:defRPr>
            </a:pPr>
            <a:r>
              <a:rPr sz="2175" b="1">
                <a:solidFill>
                  <a:srgbClr val="192B43"/>
                </a:solidFill>
                <a:latin typeface="Times New Roman"/>
                <a:ea typeface="Times New Roman"/>
                <a:cs typeface="Times New Roman"/>
              </a:rPr>
              <a:t>Small language models</a:t>
            </a:r>
          </a:p>
        </p:txBody>
      </p:sp>
      <p:sp>
        <p:nvSpPr>
          <p:cNvPr id="4" name="">
            <a:extLst xmlns:a="http://schemas.openxmlformats.org/drawingml/2006/main">
              <a:ext uri="{FF2B5EF4-FFF2-40B4-BE49-F238E27FC236}">
                <a16:creationId xmlns:a16="http://schemas.microsoft.com/office/drawing/2014/main" id="{5831AF4E-4264-4FB4-A7A5-BE9F5345C938}"/>
              </a:ext>
            </a:extLst>
          </p:cNvPr>
          <p:cNvSpPr>
            <a:spLocks xmlns:a="http://schemas.openxmlformats.org/drawingml/2006/main" noGrp="1"/>
          </p:cNvSpPr>
          <p:nvPr/>
        </p:nvSpPr>
        <p:spPr>
          <a:xfrm xmlns:a="http://schemas.openxmlformats.org/drawingml/2006/main">
            <a:off x="685800" y="1905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354359"/>
                </a:solidFill>
                <a:latin typeface="Times New Roman"/>
                <a:ea typeface="Times New Roman"/>
                <a:cs typeface="Times New Roman"/>
              </a:defRPr>
            </a:defPPr>
          </a:lstStyle>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How can smaller models meet user requirements under realistic</a:t>
            </a:r>
          </a:p>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memory and computation limits?</a:t>
            </a:r>
          </a:p>
        </p:txBody>
      </p:sp>
      <p:sp>
        <p:nvSpPr>
          <p:cNvPr id="5" name="">
            <a:extLst xmlns:a="http://schemas.openxmlformats.org/drawingml/2006/main">
              <a:ext uri="{FF2B5EF4-FFF2-40B4-BE49-F238E27FC236}">
                <a16:creationId xmlns:a16="http://schemas.microsoft.com/office/drawing/2014/main" id="{A318D337-B1CF-4EDF-BB88-476B7A3E8BA3}"/>
              </a:ext>
            </a:extLst>
          </p:cNvPr>
          <p:cNvSpPr>
            <a:spLocks xmlns:a="http://schemas.openxmlformats.org/drawingml/2006/main" noGrp="1"/>
          </p:cNvSpPr>
          <p:nvPr/>
        </p:nvSpPr>
        <p:spPr>
          <a:xfrm xmlns:a="http://schemas.openxmlformats.org/drawingml/2006/main">
            <a:off x="685800" y="31718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92B43"/>
                </a:solidFill>
                <a:latin typeface="Times New Roman"/>
                <a:ea typeface="Times New Roman"/>
                <a:cs typeface="Times New Roman"/>
              </a:defRPr>
            </a:defPPr>
          </a:lstStyle>
          <a:p xmlns:a="http://schemas.openxmlformats.org/drawingml/2006/main">
            <a:pPr>
              <a:defRPr sz="2175" b="1">
                <a:solidFill>
                  <a:srgbClr val="192B43"/>
                </a:solidFill>
                <a:latin typeface="Times New Roman"/>
                <a:ea typeface="Times New Roman"/>
                <a:cs typeface="Times New Roman"/>
              </a:defRPr>
            </a:pPr>
            <a:r>
              <a:rPr sz="2175" b="1">
                <a:solidFill>
                  <a:srgbClr val="192B43"/>
                </a:solidFill>
                <a:latin typeface="Times New Roman"/>
                <a:ea typeface="Times New Roman"/>
                <a:cs typeface="Times New Roman"/>
              </a:rPr>
              <a:t>Alignment and reliability</a:t>
            </a:r>
          </a:p>
        </p:txBody>
      </p:sp>
      <p:sp>
        <p:nvSpPr>
          <p:cNvPr id="6" name="">
            <a:extLst xmlns:a="http://schemas.openxmlformats.org/drawingml/2006/main">
              <a:ext uri="{FF2B5EF4-FFF2-40B4-BE49-F238E27FC236}">
                <a16:creationId xmlns:a16="http://schemas.microsoft.com/office/drawing/2014/main" id="{852E8152-BC06-4DB2-9A0A-4127EF7AE459}"/>
              </a:ext>
            </a:extLst>
          </p:cNvPr>
          <p:cNvSpPr>
            <a:spLocks xmlns:a="http://schemas.openxmlformats.org/drawingml/2006/main" noGrp="1"/>
          </p:cNvSpPr>
          <p:nvPr/>
        </p:nvSpPr>
        <p:spPr>
          <a:xfrm xmlns:a="http://schemas.openxmlformats.org/drawingml/2006/main">
            <a:off x="685800" y="3619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354359"/>
                </a:solidFill>
                <a:latin typeface="Times New Roman"/>
                <a:ea typeface="Times New Roman"/>
                <a:cs typeface="Times New Roman"/>
              </a:defRPr>
            </a:defPPr>
          </a:lstStyle>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How can training data and adaptation improve instruction following</a:t>
            </a:r>
          </a:p>
          <a:p xmlns:a="http://schemas.openxmlformats.org/drawingml/2006/main">
            <a:pPr>
              <a:defRPr sz="2100" b="0">
                <a:solidFill>
                  <a:srgbClr val="354359"/>
                </a:solidFill>
                <a:latin typeface="Times New Roman"/>
                <a:ea typeface="Times New Roman"/>
                <a:cs typeface="Times New Roman"/>
              </a:defRPr>
            </a:pPr>
            <a:r>
              <a:rPr sz="2100" b="0">
                <a:solidFill>
                  <a:srgbClr val="354359"/>
                </a:solidFill>
                <a:latin typeface="Times New Roman"/>
                <a:ea typeface="Times New Roman"/>
                <a:cs typeface="Times New Roman"/>
              </a:rPr>
              <a:t>while keeping model behavior reliable and easy to evaluate?</a:t>
            </a:r>
          </a:p>
        </p:txBody>
      </p:sp>
      <p:sp>
        <p:nvSpPr>
          <p:cNvPr id="7" name="">
            <a:extLst xmlns:a="http://schemas.openxmlformats.org/drawingml/2006/main">
              <a:ext uri="{FF2B5EF4-FFF2-40B4-BE49-F238E27FC236}">
                <a16:creationId xmlns:a16="http://schemas.microsoft.com/office/drawing/2014/main" id="{F3D5812D-9715-4659-8D5E-78196D107E72}"/>
              </a:ext>
            </a:extLst>
          </p:cNvPr>
          <p:cNvSpPr>
            <a:spLocks xmlns:a="http://schemas.openxmlformats.org/drawingml/2006/main" noGrp="1"/>
          </p:cNvSpPr>
          <p:nvPr/>
        </p:nvSpPr>
        <p:spPr>
          <a:xfrm xmlns:a="http://schemas.openxmlformats.org/drawingml/2006/main">
            <a:off x="685800" y="506730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35E91"/>
                </a:solidFill>
                <a:latin typeface="Times New Roman"/>
                <a:ea typeface="Times New Roman"/>
                <a:cs typeface="Times New Roman"/>
              </a:defRPr>
            </a:defPPr>
          </a:lstStyle>
          <a:p xmlns:a="http://schemas.openxmlformats.org/drawingml/2006/main">
            <a:pPr>
              <a:defRPr sz="2100" b="0">
                <a:solidFill>
                  <a:srgbClr val="235E91"/>
                </a:solidFill>
                <a:latin typeface="Times New Roman"/>
                <a:ea typeface="Times New Roman"/>
                <a:cs typeface="Times New Roman"/>
              </a:defRPr>
            </a:pPr>
            <a:r>
              <a:rPr sz="2100" b="0">
                <a:solidFill>
                  <a:srgbClr val="235E91"/>
                </a:solidFill>
                <a:latin typeface="Times New Roman"/>
                <a:ea typeface="Times New Roman"/>
                <a:cs typeface="Times New Roman"/>
              </a:rPr>
              <a:t>Research internship: winter 2026–2027 through spring 2027</a:t>
            </a:r>
          </a:p>
          <a:p xmlns:a="http://schemas.openxmlformats.org/drawingml/2006/main">
            <a:pPr>
              <a:defRPr sz="2100" b="0">
                <a:solidFill>
                  <a:srgbClr val="235E91"/>
                </a:solidFill>
                <a:latin typeface="Times New Roman"/>
                <a:ea typeface="Times New Roman"/>
                <a:cs typeface="Times New Roman"/>
              </a:defRPr>
            </a:pPr>
            <a:r>
              <a:rPr sz="2100" b="0">
                <a:solidFill>
                  <a:srgbClr val="235E91"/>
                </a:solidFill>
                <a:latin typeface="Times New Roman"/>
                <a:ea typeface="Times New Roman"/>
                <a:cs typeface="Times New Roman"/>
              </a:rPr>
              <a:t>Intended MS entry: fall 2027</a:t>
            </a:r>
          </a:p>
        </p:txBody>
      </p:sp>
      <p:sp>
        <p:nvSpPr>
          <p:cNvPr id="8" name="">
            <a:extLst xmlns:a="http://schemas.openxmlformats.org/drawingml/2006/main">
              <a:ext uri="{FF2B5EF4-FFF2-40B4-BE49-F238E27FC236}">
                <a16:creationId xmlns:a16="http://schemas.microsoft.com/office/drawing/2014/main" id="{D8F783AB-A856-4E4D-9C6B-2E2854F18E1F}"/>
              </a:ext>
            </a:extLst>
          </p:cNvPr>
          <p:cNvSpPr>
            <a:spLocks xmlns:a="http://schemas.openxmlformats.org/drawingml/2006/main" noGrp="1"/>
          </p:cNvSpPr>
          <p:nvPr/>
        </p:nvSpPr>
        <p:spPr>
          <a:xfrm xmlns:a="http://schemas.openxmlformats.org/drawingml/2006/main">
            <a:off x="685800" y="606742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9687B"/>
                </a:solidFill>
                <a:latin typeface="Times New Roman"/>
                <a:ea typeface="Times New Roman"/>
                <a:cs typeface="Times New Roman"/>
              </a:defRPr>
            </a:defPPr>
          </a:lstStyle>
          <a:p xmlns:a="http://schemas.openxmlformats.org/drawingml/2006/main">
            <a:pPr>
              <a:defRPr sz="1950" b="0">
                <a:solidFill>
                  <a:srgbClr val="59687B"/>
                </a:solidFill>
                <a:latin typeface="Times New Roman"/>
                <a:ea typeface="Times New Roman"/>
                <a:cs typeface="Times New Roman"/>
              </a:defRPr>
            </a:pPr>
            <a:r>
              <a:rPr sz="1950" b="0">
                <a:solidFill>
                  <a:srgbClr val="59687B"/>
                </a:solidFill>
                <a:latin typeface="Times New Roman"/>
                <a:ea typeface="Times New Roman"/>
                <a:cs typeface="Times New Roman"/>
              </a:rPr>
              <a:t>ksl1165@kau.kr</a:t>
            </a:r>
          </a:p>
        </p:txBody>
      </p:sp>
    </p:spTree>
    <p:extLst>
      <p:ext uri="{BB962C8B-B14F-4D97-AF65-F5344CB8AC3E}">
        <p14:creationId xmlns:p14="http://schemas.microsoft.com/office/powerpoint/2010/main" val="8710900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2026-10-16T14:21:25.4830000Z</dcterms:created>
  <dcterms:modified xsi:type="dcterms:W3CDTF">2026-10-16T14:21:25.4830000Z</dcterms:modified>
</coreProperties>
</file>